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648" r:id="rId2"/>
    <p:sldMasterId id="2147483650" r:id="rId3"/>
  </p:sldMasterIdLst>
  <p:sldIdLst>
    <p:sldId id="262" r:id="rId4"/>
    <p:sldId id="428" r:id="rId5"/>
    <p:sldId id="347" r:id="rId6"/>
    <p:sldId id="289" r:id="rId7"/>
    <p:sldId id="429" r:id="rId8"/>
    <p:sldId id="430" r:id="rId9"/>
    <p:sldId id="431" r:id="rId10"/>
    <p:sldId id="362" r:id="rId11"/>
    <p:sldId id="433" r:id="rId12"/>
    <p:sldId id="434" r:id="rId13"/>
    <p:sldId id="435" r:id="rId14"/>
    <p:sldId id="363" r:id="rId15"/>
    <p:sldId id="436" r:id="rId16"/>
    <p:sldId id="437" r:id="rId17"/>
    <p:sldId id="438" r:id="rId18"/>
    <p:sldId id="292" r:id="rId19"/>
    <p:sldId id="439" r:id="rId20"/>
    <p:sldId id="440" r:id="rId21"/>
    <p:sldId id="441" r:id="rId22"/>
    <p:sldId id="394" r:id="rId23"/>
    <p:sldId id="442" r:id="rId24"/>
    <p:sldId id="443" r:id="rId25"/>
    <p:sldId id="395" r:id="rId26"/>
    <p:sldId id="444" r:id="rId27"/>
    <p:sldId id="445" r:id="rId28"/>
    <p:sldId id="446" r:id="rId29"/>
    <p:sldId id="396" r:id="rId30"/>
    <p:sldId id="447" r:id="rId31"/>
    <p:sldId id="448" r:id="rId32"/>
    <p:sldId id="449" r:id="rId33"/>
    <p:sldId id="397" r:id="rId34"/>
    <p:sldId id="450" r:id="rId35"/>
    <p:sldId id="451" r:id="rId36"/>
    <p:sldId id="452" r:id="rId37"/>
    <p:sldId id="398" r:id="rId38"/>
    <p:sldId id="453" r:id="rId39"/>
    <p:sldId id="454" r:id="rId40"/>
    <p:sldId id="455" r:id="rId41"/>
    <p:sldId id="330" r:id="rId42"/>
    <p:sldId id="456" r:id="rId43"/>
    <p:sldId id="457" r:id="rId44"/>
    <p:sldId id="458" r:id="rId45"/>
    <p:sldId id="331" r:id="rId46"/>
    <p:sldId id="459" r:id="rId47"/>
    <p:sldId id="460" r:id="rId48"/>
    <p:sldId id="332" r:id="rId49"/>
    <p:sldId id="260" r:id="rId5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637" autoAdjust="0"/>
  </p:normalViewPr>
  <p:slideViewPr>
    <p:cSldViewPr>
      <p:cViewPr varScale="1">
        <p:scale>
          <a:sx n="108" d="100"/>
          <a:sy n="108" d="100"/>
        </p:scale>
        <p:origin x="176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4357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881515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87634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107577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320012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461548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9117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50613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3066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88570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3641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3641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258165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207321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297106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89374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90185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6046883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837397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51365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156744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42769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2937715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676400"/>
            <a:ext cx="2057400" cy="45005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1676400"/>
            <a:ext cx="6019800" cy="4500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569049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896336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9198700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434619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9818874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5345262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315394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26707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094154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59083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7906570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05447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>
            <a:extLst>
              <a:ext uri="{FF2B5EF4-FFF2-40B4-BE49-F238E27FC236}">
                <a16:creationId xmlns:a16="http://schemas.microsoft.com/office/drawing/2014/main" id="{035F7B5B-2BC6-0342-B4B9-4213759EC9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A690B98F-AB91-3348-9652-C93DE66E1B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C8714F68-06F9-1F4F-9736-9F412D9BB0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9">
            <a:extLst>
              <a:ext uri="{FF2B5EF4-FFF2-40B4-BE49-F238E27FC236}">
                <a16:creationId xmlns:a16="http://schemas.microsoft.com/office/drawing/2014/main" id="{9F833103-68AF-3C43-8ED9-78925DE7AA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11">
            <a:extLst>
              <a:ext uri="{FF2B5EF4-FFF2-40B4-BE49-F238E27FC236}">
                <a16:creationId xmlns:a16="http://schemas.microsoft.com/office/drawing/2014/main" id="{F7D09861-2754-0549-9376-BEF74CADD5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16764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8">
            <a:extLst>
              <a:ext uri="{FF2B5EF4-FFF2-40B4-BE49-F238E27FC236}">
                <a16:creationId xmlns:a16="http://schemas.microsoft.com/office/drawing/2014/main" id="{15675914-EE8B-9D41-BDBB-501D6BBF41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slide" Target="slide8.xml"/><Relationship Id="rId4" Type="http://schemas.openxmlformats.org/officeDocument/2006/relationships/slide" Target="slide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wav"/><Relationship Id="rId13" Type="http://schemas.openxmlformats.org/officeDocument/2006/relationships/slide" Target="slide8.xml"/><Relationship Id="rId3" Type="http://schemas.microsoft.com/office/2007/relationships/media" Target="../media/media2.wav"/><Relationship Id="rId7" Type="http://schemas.microsoft.com/office/2007/relationships/media" Target="../media/media4.wav"/><Relationship Id="rId12" Type="http://schemas.openxmlformats.org/officeDocument/2006/relationships/image" Target="../media/image4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11" Type="http://schemas.openxmlformats.org/officeDocument/2006/relationships/slideLayout" Target="../slideLayouts/slideLayout2.xml"/><Relationship Id="rId5" Type="http://schemas.microsoft.com/office/2007/relationships/media" Target="../media/media3.wav"/><Relationship Id="rId10" Type="http://schemas.openxmlformats.org/officeDocument/2006/relationships/audio" Target="../media/media5.wav"/><Relationship Id="rId4" Type="http://schemas.openxmlformats.org/officeDocument/2006/relationships/audio" Target="../media/media2.wav"/><Relationship Id="rId9" Type="http://schemas.microsoft.com/office/2007/relationships/media" Target="../media/media5.wav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4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5.wav"/><Relationship Id="rId5" Type="http://schemas.microsoft.com/office/2007/relationships/media" Target="../media/media5.wav"/><Relationship Id="rId4" Type="http://schemas.openxmlformats.org/officeDocument/2006/relationships/audio" Target="../media/media4.wav"/><Relationship Id="rId9" Type="http://schemas.openxmlformats.org/officeDocument/2006/relationships/slide" Target="slide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4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audio" Target="../media/media5.wav"/><Relationship Id="rId5" Type="http://schemas.microsoft.com/office/2007/relationships/media" Target="../media/media5.wav"/><Relationship Id="rId4" Type="http://schemas.openxmlformats.org/officeDocument/2006/relationships/audio" Target="../media/media4.wav"/><Relationship Id="rId9" Type="http://schemas.openxmlformats.org/officeDocument/2006/relationships/slide" Target="slide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slide" Target="slide8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slide" Target="slide16.xml"/><Relationship Id="rId4" Type="http://schemas.openxmlformats.org/officeDocument/2006/relationships/slide" Target="slide1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audio" Target="../media/media9.wav"/><Relationship Id="rId13" Type="http://schemas.openxmlformats.org/officeDocument/2006/relationships/slide" Target="slide16.xml"/><Relationship Id="rId3" Type="http://schemas.microsoft.com/office/2007/relationships/media" Target="../media/media7.wav"/><Relationship Id="rId7" Type="http://schemas.microsoft.com/office/2007/relationships/media" Target="../media/media9.wav"/><Relationship Id="rId12" Type="http://schemas.openxmlformats.org/officeDocument/2006/relationships/image" Target="../media/image4.png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6" Type="http://schemas.openxmlformats.org/officeDocument/2006/relationships/audio" Target="../media/media8.wav"/><Relationship Id="rId11" Type="http://schemas.openxmlformats.org/officeDocument/2006/relationships/slideLayout" Target="../slideLayouts/slideLayout2.xml"/><Relationship Id="rId5" Type="http://schemas.microsoft.com/office/2007/relationships/media" Target="../media/media8.wav"/><Relationship Id="rId10" Type="http://schemas.openxmlformats.org/officeDocument/2006/relationships/audio" Target="../media/media10.wav"/><Relationship Id="rId4" Type="http://schemas.openxmlformats.org/officeDocument/2006/relationships/audio" Target="../media/media7.wav"/><Relationship Id="rId9" Type="http://schemas.microsoft.com/office/2007/relationships/media" Target="../media/media10.wav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9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6" Type="http://schemas.openxmlformats.org/officeDocument/2006/relationships/audio" Target="../media/media10.wav"/><Relationship Id="rId5" Type="http://schemas.microsoft.com/office/2007/relationships/media" Target="../media/media10.wav"/><Relationship Id="rId4" Type="http://schemas.openxmlformats.org/officeDocument/2006/relationships/audio" Target="../media/media9.wav"/><Relationship Id="rId9" Type="http://schemas.openxmlformats.org/officeDocument/2006/relationships/slide" Target="slide1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9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6" Type="http://schemas.openxmlformats.org/officeDocument/2006/relationships/audio" Target="../media/media10.wav"/><Relationship Id="rId5" Type="http://schemas.microsoft.com/office/2007/relationships/media" Target="../media/media10.wav"/><Relationship Id="rId4" Type="http://schemas.openxmlformats.org/officeDocument/2006/relationships/audio" Target="../media/media9.wav"/><Relationship Id="rId9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media" Target="../media/media10.wav"/><Relationship Id="rId7" Type="http://schemas.openxmlformats.org/officeDocument/2006/relationships/slide" Target="slide16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10.wav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1.xml"/><Relationship Id="rId4" Type="http://schemas.openxmlformats.org/officeDocument/2006/relationships/slide" Target="slide2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audio" Target="../media/media14.wav"/><Relationship Id="rId3" Type="http://schemas.microsoft.com/office/2007/relationships/media" Target="../media/media12.wav"/><Relationship Id="rId7" Type="http://schemas.microsoft.com/office/2007/relationships/media" Target="../media/media14.wav"/><Relationship Id="rId2" Type="http://schemas.openxmlformats.org/officeDocument/2006/relationships/audio" Target="../media/media11.wav"/><Relationship Id="rId1" Type="http://schemas.microsoft.com/office/2007/relationships/media" Target="../media/media11.wav"/><Relationship Id="rId6" Type="http://schemas.openxmlformats.org/officeDocument/2006/relationships/audio" Target="../media/media13.wav"/><Relationship Id="rId11" Type="http://schemas.openxmlformats.org/officeDocument/2006/relationships/slide" Target="slide23.xml"/><Relationship Id="rId5" Type="http://schemas.microsoft.com/office/2007/relationships/media" Target="../media/media13.wav"/><Relationship Id="rId10" Type="http://schemas.openxmlformats.org/officeDocument/2006/relationships/image" Target="../media/image4.png"/><Relationship Id="rId4" Type="http://schemas.openxmlformats.org/officeDocument/2006/relationships/audio" Target="../media/media12.wav"/><Relationship Id="rId9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media" Target="../media/media14.wav"/><Relationship Id="rId7" Type="http://schemas.openxmlformats.org/officeDocument/2006/relationships/slide" Target="slide19.xml"/><Relationship Id="rId2" Type="http://schemas.openxmlformats.org/officeDocument/2006/relationships/audio" Target="../media/media11.wav"/><Relationship Id="rId1" Type="http://schemas.microsoft.com/office/2007/relationships/media" Target="../media/media11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14.wav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media" Target="../media/media14.wav"/><Relationship Id="rId7" Type="http://schemas.openxmlformats.org/officeDocument/2006/relationships/slide" Target="slide19.xml"/><Relationship Id="rId2" Type="http://schemas.openxmlformats.org/officeDocument/2006/relationships/audio" Target="../media/media11.wav"/><Relationship Id="rId1" Type="http://schemas.microsoft.com/office/2007/relationships/media" Target="../media/media11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14.wav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slide" Target="slide2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31.xml"/><Relationship Id="rId4" Type="http://schemas.openxmlformats.org/officeDocument/2006/relationships/slide" Target="slide3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audio" Target="../media/media18.wav"/><Relationship Id="rId13" Type="http://schemas.openxmlformats.org/officeDocument/2006/relationships/slideLayout" Target="../slideLayouts/slideLayout2.xml"/><Relationship Id="rId3" Type="http://schemas.microsoft.com/office/2007/relationships/media" Target="../media/media16.wav"/><Relationship Id="rId7" Type="http://schemas.microsoft.com/office/2007/relationships/media" Target="../media/media18.wav"/><Relationship Id="rId12" Type="http://schemas.openxmlformats.org/officeDocument/2006/relationships/audio" Target="../media/media20.wav"/><Relationship Id="rId2" Type="http://schemas.openxmlformats.org/officeDocument/2006/relationships/audio" Target="../media/media15.wav"/><Relationship Id="rId1" Type="http://schemas.microsoft.com/office/2007/relationships/media" Target="../media/media15.wav"/><Relationship Id="rId6" Type="http://schemas.openxmlformats.org/officeDocument/2006/relationships/audio" Target="../media/media17.wav"/><Relationship Id="rId11" Type="http://schemas.microsoft.com/office/2007/relationships/media" Target="../media/media20.wav"/><Relationship Id="rId5" Type="http://schemas.microsoft.com/office/2007/relationships/media" Target="../media/media17.wav"/><Relationship Id="rId15" Type="http://schemas.openxmlformats.org/officeDocument/2006/relationships/slide" Target="slide31.xml"/><Relationship Id="rId10" Type="http://schemas.openxmlformats.org/officeDocument/2006/relationships/audio" Target="../media/media19.wav"/><Relationship Id="rId4" Type="http://schemas.openxmlformats.org/officeDocument/2006/relationships/audio" Target="../media/media16.wav"/><Relationship Id="rId9" Type="http://schemas.microsoft.com/office/2007/relationships/media" Target="../media/media19.wav"/><Relationship Id="rId1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audio" Target="../media/media20.wav"/><Relationship Id="rId3" Type="http://schemas.microsoft.com/office/2007/relationships/media" Target="../media/media18.wav"/><Relationship Id="rId7" Type="http://schemas.microsoft.com/office/2007/relationships/media" Target="../media/media20.wav"/><Relationship Id="rId2" Type="http://schemas.openxmlformats.org/officeDocument/2006/relationships/audio" Target="../media/media15.wav"/><Relationship Id="rId1" Type="http://schemas.microsoft.com/office/2007/relationships/media" Target="../media/media15.wav"/><Relationship Id="rId6" Type="http://schemas.openxmlformats.org/officeDocument/2006/relationships/audio" Target="../media/media19.wav"/><Relationship Id="rId11" Type="http://schemas.openxmlformats.org/officeDocument/2006/relationships/slide" Target="slide31.xml"/><Relationship Id="rId5" Type="http://schemas.microsoft.com/office/2007/relationships/media" Target="../media/media19.wav"/><Relationship Id="rId10" Type="http://schemas.openxmlformats.org/officeDocument/2006/relationships/image" Target="../media/image4.png"/><Relationship Id="rId4" Type="http://schemas.openxmlformats.org/officeDocument/2006/relationships/audio" Target="../media/media18.wav"/><Relationship Id="rId9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audio" Target="../media/media20.wav"/><Relationship Id="rId3" Type="http://schemas.microsoft.com/office/2007/relationships/media" Target="../media/media18.wav"/><Relationship Id="rId7" Type="http://schemas.microsoft.com/office/2007/relationships/media" Target="../media/media20.wav"/><Relationship Id="rId2" Type="http://schemas.openxmlformats.org/officeDocument/2006/relationships/audio" Target="../media/media15.wav"/><Relationship Id="rId1" Type="http://schemas.microsoft.com/office/2007/relationships/media" Target="../media/media15.wav"/><Relationship Id="rId6" Type="http://schemas.openxmlformats.org/officeDocument/2006/relationships/audio" Target="../media/media19.wav"/><Relationship Id="rId11" Type="http://schemas.openxmlformats.org/officeDocument/2006/relationships/slide" Target="slide31.xml"/><Relationship Id="rId5" Type="http://schemas.microsoft.com/office/2007/relationships/media" Target="../media/media19.wav"/><Relationship Id="rId10" Type="http://schemas.openxmlformats.org/officeDocument/2006/relationships/image" Target="../media/image4.png"/><Relationship Id="rId4" Type="http://schemas.openxmlformats.org/officeDocument/2006/relationships/audio" Target="../media/media18.wav"/><Relationship Id="rId9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media" Target="../media/media20.wav"/><Relationship Id="rId7" Type="http://schemas.openxmlformats.org/officeDocument/2006/relationships/slide" Target="slide31.xml"/><Relationship Id="rId2" Type="http://schemas.openxmlformats.org/officeDocument/2006/relationships/audio" Target="../media/media15.wav"/><Relationship Id="rId1" Type="http://schemas.microsoft.com/office/2007/relationships/media" Target="../media/media15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0.wav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7.xml"/><Relationship Id="rId5" Type="http://schemas.openxmlformats.org/officeDocument/2006/relationships/slide" Target="slide23.xml"/><Relationship Id="rId4" Type="http://schemas.openxmlformats.org/officeDocument/2006/relationships/slide" Target="slide3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audio" Target="../media/media24.wav"/><Relationship Id="rId13" Type="http://schemas.openxmlformats.org/officeDocument/2006/relationships/slide" Target="slide39.xml"/><Relationship Id="rId3" Type="http://schemas.microsoft.com/office/2007/relationships/media" Target="../media/media22.wav"/><Relationship Id="rId7" Type="http://schemas.microsoft.com/office/2007/relationships/media" Target="../media/media24.wav"/><Relationship Id="rId12" Type="http://schemas.openxmlformats.org/officeDocument/2006/relationships/image" Target="../media/image4.png"/><Relationship Id="rId2" Type="http://schemas.openxmlformats.org/officeDocument/2006/relationships/audio" Target="../media/media21.wav"/><Relationship Id="rId1" Type="http://schemas.microsoft.com/office/2007/relationships/media" Target="../media/media21.wav"/><Relationship Id="rId6" Type="http://schemas.openxmlformats.org/officeDocument/2006/relationships/audio" Target="../media/media23.wav"/><Relationship Id="rId11" Type="http://schemas.openxmlformats.org/officeDocument/2006/relationships/slideLayout" Target="../slideLayouts/slideLayout2.xml"/><Relationship Id="rId5" Type="http://schemas.microsoft.com/office/2007/relationships/media" Target="../media/media23.wav"/><Relationship Id="rId10" Type="http://schemas.openxmlformats.org/officeDocument/2006/relationships/audio" Target="../media/media25.wav"/><Relationship Id="rId4" Type="http://schemas.openxmlformats.org/officeDocument/2006/relationships/audio" Target="../media/media22.wav"/><Relationship Id="rId9" Type="http://schemas.microsoft.com/office/2007/relationships/media" Target="../media/media25.wav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24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21.wav"/><Relationship Id="rId1" Type="http://schemas.microsoft.com/office/2007/relationships/media" Target="../media/media21.wav"/><Relationship Id="rId6" Type="http://schemas.openxmlformats.org/officeDocument/2006/relationships/audio" Target="../media/media25.wav"/><Relationship Id="rId5" Type="http://schemas.microsoft.com/office/2007/relationships/media" Target="../media/media25.wav"/><Relationship Id="rId4" Type="http://schemas.openxmlformats.org/officeDocument/2006/relationships/audio" Target="../media/media24.wav"/><Relationship Id="rId9" Type="http://schemas.openxmlformats.org/officeDocument/2006/relationships/slide" Target="slide39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24.wav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21.wav"/><Relationship Id="rId1" Type="http://schemas.microsoft.com/office/2007/relationships/media" Target="../media/media21.wav"/><Relationship Id="rId6" Type="http://schemas.openxmlformats.org/officeDocument/2006/relationships/audio" Target="../media/media25.wav"/><Relationship Id="rId5" Type="http://schemas.microsoft.com/office/2007/relationships/media" Target="../media/media25.wav"/><Relationship Id="rId4" Type="http://schemas.openxmlformats.org/officeDocument/2006/relationships/audio" Target="../media/media24.wav"/><Relationship Id="rId9" Type="http://schemas.openxmlformats.org/officeDocument/2006/relationships/slide" Target="slide39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media" Target="../media/media25.wav"/><Relationship Id="rId7" Type="http://schemas.openxmlformats.org/officeDocument/2006/relationships/slide" Target="slide39.xml"/><Relationship Id="rId2" Type="http://schemas.openxmlformats.org/officeDocument/2006/relationships/audio" Target="../media/media21.wav"/><Relationship Id="rId1" Type="http://schemas.microsoft.com/office/2007/relationships/media" Target="../media/media21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5.wav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4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45.xml"/><Relationship Id="rId2" Type="http://schemas.openxmlformats.org/officeDocument/2006/relationships/slide" Target="slide4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4.xml"/><Relationship Id="rId4" Type="http://schemas.openxmlformats.org/officeDocument/2006/relationships/slide" Target="slide46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audio" Target="../media/media29.wav"/><Relationship Id="rId3" Type="http://schemas.microsoft.com/office/2007/relationships/media" Target="../media/media27.wav"/><Relationship Id="rId7" Type="http://schemas.microsoft.com/office/2007/relationships/media" Target="../media/media29.wav"/><Relationship Id="rId2" Type="http://schemas.openxmlformats.org/officeDocument/2006/relationships/audio" Target="../media/media26.wav"/><Relationship Id="rId1" Type="http://schemas.microsoft.com/office/2007/relationships/media" Target="../media/media26.wav"/><Relationship Id="rId6" Type="http://schemas.openxmlformats.org/officeDocument/2006/relationships/audio" Target="../media/media28.wav"/><Relationship Id="rId11" Type="http://schemas.openxmlformats.org/officeDocument/2006/relationships/slide" Target="slide46.xml"/><Relationship Id="rId5" Type="http://schemas.microsoft.com/office/2007/relationships/media" Target="../media/media28.wav"/><Relationship Id="rId10" Type="http://schemas.openxmlformats.org/officeDocument/2006/relationships/image" Target="../media/image4.png"/><Relationship Id="rId4" Type="http://schemas.openxmlformats.org/officeDocument/2006/relationships/audio" Target="../media/media27.wav"/><Relationship Id="rId9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microsoft.com/office/2007/relationships/media" Target="../media/media29.wav"/><Relationship Id="rId7" Type="http://schemas.openxmlformats.org/officeDocument/2006/relationships/slide" Target="slide46.xml"/><Relationship Id="rId2" Type="http://schemas.openxmlformats.org/officeDocument/2006/relationships/audio" Target="../media/media26.wav"/><Relationship Id="rId1" Type="http://schemas.microsoft.com/office/2007/relationships/media" Target="../media/media26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9.wav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07/relationships/media" Target="../media/media29.wav"/><Relationship Id="rId7" Type="http://schemas.openxmlformats.org/officeDocument/2006/relationships/slide" Target="slide46.xml"/><Relationship Id="rId2" Type="http://schemas.openxmlformats.org/officeDocument/2006/relationships/audio" Target="../media/media26.wav"/><Relationship Id="rId1" Type="http://schemas.microsoft.com/office/2007/relationships/media" Target="../media/media26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9.wav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4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>
            <a:extLst>
              <a:ext uri="{FF2B5EF4-FFF2-40B4-BE49-F238E27FC236}">
                <a16:creationId xmlns:a16="http://schemas.microsoft.com/office/drawing/2014/main" id="{40BAB41F-7AC1-2A4E-ACC5-2CFA83895E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第六次学习</a:t>
            </a:r>
            <a:endParaRPr lang="zh-CN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8516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生意？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899A4386-11EF-4847-960E-F5DE19C072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生意 </a:t>
            </a:r>
            <a:r>
              <a:rPr kumimoji="1" lang="zh-CN" altLang="zh-CN"/>
              <a:t>shēngyì </a:t>
            </a:r>
            <a:endParaRPr kumimoji="1" lang="zh-CN" altLang="en-US"/>
          </a:p>
        </p:txBody>
      </p:sp>
      <p:sp>
        <p:nvSpPr>
          <p:cNvPr id="5122" name="内容占位符 2">
            <a:extLst>
              <a:ext uri="{FF2B5EF4-FFF2-40B4-BE49-F238E27FC236}">
                <a16:creationId xmlns:a16="http://schemas.microsoft.com/office/drawing/2014/main" id="{149A190F-9607-1E46-9EBF-1DF4BA48A7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生 </a:t>
            </a:r>
            <a:r>
              <a:rPr lang="zh-CN" altLang="zh-CN" sz="2000">
                <a:solidFill>
                  <a:srgbClr val="000000"/>
                </a:solidFill>
              </a:rPr>
              <a:t>shēng</a:t>
            </a:r>
            <a:r>
              <a:rPr lang="zh-CN" altLang="en-US" sz="2000">
                <a:solidFill>
                  <a:srgbClr val="000000"/>
                </a:solidFill>
              </a:rPr>
              <a:t> </a:t>
            </a:r>
            <a:r>
              <a:rPr lang="en-US" altLang="zh-CN" sz="2000">
                <a:solidFill>
                  <a:srgbClr val="000000"/>
                </a:solidFill>
              </a:rPr>
              <a:t>NOUN</a:t>
            </a:r>
            <a:r>
              <a:rPr lang="zh-CN" altLang="en-US" sz="2000">
                <a:solidFill>
                  <a:srgbClr val="000000"/>
                </a:solidFill>
              </a:rPr>
              <a:t> </a:t>
            </a:r>
            <a:r>
              <a:rPr lang="en-US" altLang="zh-CN" sz="2000">
                <a:solidFill>
                  <a:srgbClr val="000000"/>
                </a:solidFill>
              </a:rPr>
              <a:t>life; living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意 </a:t>
            </a:r>
            <a:r>
              <a:rPr lang="zh-CN" altLang="zh-CN" sz="2000">
                <a:solidFill>
                  <a:srgbClr val="000000"/>
                </a:solidFill>
              </a:rPr>
              <a:t>yì NOUN meaning; idea; thought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NOUN  business; trade</a:t>
            </a:r>
            <a:endParaRPr lang="zh-CN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做（一级） 生意</a:t>
            </a:r>
            <a:r>
              <a:rPr lang="en-US" altLang="zh-CN" sz="2000">
                <a:solidFill>
                  <a:srgbClr val="000000"/>
                </a:solidFill>
              </a:rPr>
              <a:t>  do business</a:t>
            </a:r>
            <a:endParaRPr lang="zh-CN" altLang="en-US" sz="200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生意 好（一级） 极了</a:t>
            </a:r>
            <a:r>
              <a:rPr lang="en-US" altLang="zh-CN" sz="2000">
                <a:solidFill>
                  <a:srgbClr val="000000"/>
                </a:solidFill>
              </a:rPr>
              <a:t>  business is great</a:t>
            </a: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>
                <a:solidFill>
                  <a:srgbClr val="000000"/>
                </a:solidFill>
              </a:rPr>
              <a:t>生意就这样成了。</a:t>
            </a:r>
            <a:endParaRPr kumimoji="1"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sz="2000"/>
              <a:t>生意</a:t>
            </a:r>
            <a:r>
              <a:rPr kumimoji="1" lang="en-US" altLang="zh-CN" sz="2000"/>
              <a:t>/</a:t>
            </a:r>
            <a:r>
              <a:rPr kumimoji="1" lang="zh-CN" altLang="zh-CN" sz="2000"/>
              <a:t>shēngyì  </a:t>
            </a:r>
            <a:r>
              <a:rPr kumimoji="1" lang="zh-CN" altLang="en-US" sz="2000"/>
              <a:t>就</a:t>
            </a:r>
            <a:r>
              <a:rPr kumimoji="1" lang="en-US" altLang="zh-CN" sz="2000"/>
              <a:t>/</a:t>
            </a:r>
            <a:r>
              <a:rPr kumimoji="1" lang="zh-CN" altLang="zh-CN" sz="2000"/>
              <a:t>jiù  </a:t>
            </a:r>
            <a:r>
              <a:rPr kumimoji="1" lang="zh-CN" altLang="en-US" sz="2000"/>
              <a:t>这样</a:t>
            </a:r>
            <a:r>
              <a:rPr kumimoji="1" lang="en-US" altLang="zh-CN" sz="2000"/>
              <a:t>/</a:t>
            </a:r>
            <a:r>
              <a:rPr kumimoji="1" lang="zh-CN" altLang="zh-CN" sz="2000"/>
              <a:t>zhèyàng  </a:t>
            </a:r>
            <a:r>
              <a:rPr kumimoji="1" lang="zh-CN" altLang="en-US" sz="2000"/>
              <a:t>成</a:t>
            </a:r>
            <a:r>
              <a:rPr kumimoji="1" lang="en-US" altLang="zh-CN" sz="2000"/>
              <a:t>/</a:t>
            </a:r>
            <a:r>
              <a:rPr kumimoji="1" lang="zh-CN" altLang="zh-CN" sz="2000"/>
              <a:t>chéng  </a:t>
            </a:r>
            <a:r>
              <a:rPr kumimoji="1" lang="zh-CN" altLang="en-US" sz="2000"/>
              <a:t>了</a:t>
            </a:r>
            <a:r>
              <a:rPr kumimoji="1" lang="en-US" altLang="zh-CN" sz="2000"/>
              <a:t>/</a:t>
            </a:r>
            <a:r>
              <a:rPr kumimoji="1" lang="zh-CN" altLang="zh-CN" sz="2000"/>
              <a:t>le  。 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That's how business is done.</a:t>
            </a:r>
            <a:endParaRPr kumimoji="1" lang="zh-CN" altLang="en-US" sz="2000"/>
          </a:p>
        </p:txBody>
      </p:sp>
      <p:pic>
        <p:nvPicPr>
          <p:cNvPr id="2" name="生意.wav" descr="生意.wav">
            <a:hlinkClick r:id="" action="ppaction://media"/>
            <a:extLst>
              <a:ext uri="{FF2B5EF4-FFF2-40B4-BE49-F238E27FC236}">
                <a16:creationId xmlns:a16="http://schemas.microsoft.com/office/drawing/2014/main" id="{02AC37FE-ACB1-4144-9877-3CBEBB130A93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57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生.wav" descr="生.wav">
            <a:hlinkClick r:id="" action="ppaction://media"/>
            <a:extLst>
              <a:ext uri="{FF2B5EF4-FFF2-40B4-BE49-F238E27FC236}">
                <a16:creationId xmlns:a16="http://schemas.microsoft.com/office/drawing/2014/main" id="{5502A5A4-7295-4643-976D-66353AD265E9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600" y="1143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意.wav" descr="意.wav">
            <a:hlinkClick r:id="" action="ppaction://media"/>
            <a:extLst>
              <a:ext uri="{FF2B5EF4-FFF2-40B4-BE49-F238E27FC236}">
                <a16:creationId xmlns:a16="http://schemas.microsoft.com/office/drawing/2014/main" id="{0D182CC1-C165-234A-BE37-8B6020FF6C85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025" y="1524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做生意.wav" descr="做生意.wav">
            <a:hlinkClick r:id="" action="ppaction://media"/>
            <a:extLst>
              <a:ext uri="{FF2B5EF4-FFF2-40B4-BE49-F238E27FC236}">
                <a16:creationId xmlns:a16="http://schemas.microsoft.com/office/drawing/2014/main" id="{C4E9FEB3-EE09-1E4D-9452-CDB965AFEBD8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590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生意好极了.wav" descr="生意好极了.wav">
            <a:hlinkClick r:id="" action="ppaction://media"/>
            <a:extLst>
              <a:ext uri="{FF2B5EF4-FFF2-40B4-BE49-F238E27FC236}">
                <a16:creationId xmlns:a16="http://schemas.microsoft.com/office/drawing/2014/main" id="{9026B3AF-E7E2-1847-8361-B0AB6AFF3A06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800" y="2895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C10E0C1D-FCF9-1E48-934F-BF468D2BF8DA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3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15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44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899A4386-11EF-4847-960E-F5DE19C072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生意 </a:t>
            </a:r>
            <a:r>
              <a:rPr kumimoji="1" lang="zh-CN" altLang="zh-CN"/>
              <a:t>shēngyì </a:t>
            </a:r>
            <a:endParaRPr kumimoji="1" lang="zh-CN" altLang="en-US"/>
          </a:p>
        </p:txBody>
      </p:sp>
      <p:sp>
        <p:nvSpPr>
          <p:cNvPr id="5122" name="内容占位符 2">
            <a:extLst>
              <a:ext uri="{FF2B5EF4-FFF2-40B4-BE49-F238E27FC236}">
                <a16:creationId xmlns:a16="http://schemas.microsoft.com/office/drawing/2014/main" id="{149A190F-9607-1E46-9EBF-1DF4BA48A7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NOUN  business; trade</a:t>
            </a:r>
            <a:endParaRPr lang="zh-CN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做（一级） 生意</a:t>
            </a:r>
            <a:r>
              <a:rPr lang="en-US" altLang="zh-CN" sz="2000" dirty="0">
                <a:solidFill>
                  <a:srgbClr val="000000"/>
                </a:solidFill>
              </a:rPr>
              <a:t>  do business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生意 好（一级） 极了</a:t>
            </a:r>
            <a:r>
              <a:rPr lang="en-US" altLang="zh-CN" sz="2000" dirty="0">
                <a:solidFill>
                  <a:srgbClr val="000000"/>
                </a:solidFill>
              </a:rPr>
              <a:t>  business is great</a:t>
            </a: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生意就这样成了。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sz="2000" dirty="0"/>
              <a:t>生意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shēngyì  </a:t>
            </a:r>
            <a:r>
              <a:rPr kumimoji="1" lang="zh-CN" altLang="en-US" sz="2000" dirty="0"/>
              <a:t>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jiù  </a:t>
            </a:r>
            <a:r>
              <a:rPr kumimoji="1" lang="zh-CN" altLang="en-US" sz="2000" dirty="0"/>
              <a:t>这样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zhèyàng  </a:t>
            </a:r>
            <a:r>
              <a:rPr kumimoji="1" lang="zh-CN" altLang="en-US" sz="2000" dirty="0"/>
              <a:t>成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chéng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。 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That's how business is done.</a:t>
            </a:r>
            <a:endParaRPr kumimoji="1" lang="zh-CN" altLang="en-US" sz="2000" dirty="0"/>
          </a:p>
        </p:txBody>
      </p:sp>
      <p:pic>
        <p:nvPicPr>
          <p:cNvPr id="2" name="生意.wav" descr="生意.wav">
            <a:hlinkClick r:id="" action="ppaction://media"/>
            <a:extLst>
              <a:ext uri="{FF2B5EF4-FFF2-40B4-BE49-F238E27FC236}">
                <a16:creationId xmlns:a16="http://schemas.microsoft.com/office/drawing/2014/main" id="{02AC37FE-ACB1-4144-9877-3CBEBB130A93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57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做生意.wav" descr="做生意.wav">
            <a:hlinkClick r:id="" action="ppaction://media"/>
            <a:extLst>
              <a:ext uri="{FF2B5EF4-FFF2-40B4-BE49-F238E27FC236}">
                <a16:creationId xmlns:a16="http://schemas.microsoft.com/office/drawing/2014/main" id="{C4E9FEB3-EE09-1E4D-9452-CDB965AFEBD8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590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生意好极了.wav" descr="生意好极了.wav">
            <a:hlinkClick r:id="" action="ppaction://media"/>
            <a:extLst>
              <a:ext uri="{FF2B5EF4-FFF2-40B4-BE49-F238E27FC236}">
                <a16:creationId xmlns:a16="http://schemas.microsoft.com/office/drawing/2014/main" id="{9026B3AF-E7E2-1847-8361-B0AB6AFF3A06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800" y="2895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C49F6D3E-6150-AE4F-BDA0-2465A98471A5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5097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15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44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899A4386-11EF-4847-960E-F5DE19C072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生意 </a:t>
            </a:r>
            <a:r>
              <a:rPr kumimoji="1" lang="zh-CN" altLang="zh-CN"/>
              <a:t>shēngyì </a:t>
            </a:r>
            <a:endParaRPr kumimoji="1" lang="zh-CN" altLang="en-US"/>
          </a:p>
        </p:txBody>
      </p:sp>
      <p:sp>
        <p:nvSpPr>
          <p:cNvPr id="5122" name="内容占位符 2">
            <a:extLst>
              <a:ext uri="{FF2B5EF4-FFF2-40B4-BE49-F238E27FC236}">
                <a16:creationId xmlns:a16="http://schemas.microsoft.com/office/drawing/2014/main" id="{149A190F-9607-1E46-9EBF-1DF4BA48A7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做（一级） 生意</a:t>
            </a:r>
            <a:r>
              <a:rPr lang="en-US" altLang="zh-CN" sz="2000" dirty="0">
                <a:solidFill>
                  <a:srgbClr val="000000"/>
                </a:solidFill>
              </a:rPr>
              <a:t>  do business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生意 好（一级） 极了</a:t>
            </a:r>
            <a:r>
              <a:rPr lang="en-US" altLang="zh-CN" sz="2000" dirty="0">
                <a:solidFill>
                  <a:srgbClr val="000000"/>
                </a:solidFill>
              </a:rPr>
              <a:t>  business is great</a:t>
            </a: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生意就这样成了。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sz="2000" dirty="0"/>
              <a:t>生意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shēngyì  </a:t>
            </a:r>
            <a:r>
              <a:rPr kumimoji="1" lang="zh-CN" altLang="en-US" sz="2000" dirty="0"/>
              <a:t>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jiù  </a:t>
            </a:r>
            <a:r>
              <a:rPr kumimoji="1" lang="zh-CN" altLang="en-US" sz="2000" dirty="0"/>
              <a:t>这样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zhèyàng  </a:t>
            </a:r>
            <a:r>
              <a:rPr kumimoji="1" lang="zh-CN" altLang="en-US" sz="2000" dirty="0"/>
              <a:t>成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chéng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。 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That's how business is done.</a:t>
            </a:r>
            <a:endParaRPr kumimoji="1" lang="zh-CN" altLang="en-US" sz="2000" dirty="0"/>
          </a:p>
        </p:txBody>
      </p:sp>
      <p:pic>
        <p:nvPicPr>
          <p:cNvPr id="2" name="生意.wav" descr="生意.wav">
            <a:hlinkClick r:id="" action="ppaction://media"/>
            <a:extLst>
              <a:ext uri="{FF2B5EF4-FFF2-40B4-BE49-F238E27FC236}">
                <a16:creationId xmlns:a16="http://schemas.microsoft.com/office/drawing/2014/main" id="{02AC37FE-ACB1-4144-9877-3CBEBB130A93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57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做生意.wav" descr="做生意.wav">
            <a:hlinkClick r:id="" action="ppaction://media"/>
            <a:extLst>
              <a:ext uri="{FF2B5EF4-FFF2-40B4-BE49-F238E27FC236}">
                <a16:creationId xmlns:a16="http://schemas.microsoft.com/office/drawing/2014/main" id="{C4E9FEB3-EE09-1E4D-9452-CDB965AFEBD8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590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生意好极了.wav" descr="生意好极了.wav">
            <a:hlinkClick r:id="" action="ppaction://media"/>
            <a:extLst>
              <a:ext uri="{FF2B5EF4-FFF2-40B4-BE49-F238E27FC236}">
                <a16:creationId xmlns:a16="http://schemas.microsoft.com/office/drawing/2014/main" id="{9026B3AF-E7E2-1847-8361-B0AB6AFF3A06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800" y="2895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41B5C09E-820C-F541-97EB-B72715FE571B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8049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15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44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899A4386-11EF-4847-960E-F5DE19C072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生意 </a:t>
            </a:r>
            <a:r>
              <a:rPr kumimoji="1" lang="zh-CN" altLang="zh-CN"/>
              <a:t>shēngyì </a:t>
            </a:r>
            <a:endParaRPr kumimoji="1" lang="zh-CN" altLang="en-US"/>
          </a:p>
        </p:txBody>
      </p:sp>
      <p:sp>
        <p:nvSpPr>
          <p:cNvPr id="5122" name="内容占位符 2">
            <a:extLst>
              <a:ext uri="{FF2B5EF4-FFF2-40B4-BE49-F238E27FC236}">
                <a16:creationId xmlns:a16="http://schemas.microsoft.com/office/drawing/2014/main" id="{149A190F-9607-1E46-9EBF-1DF4BA48A7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生意就这样成了。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sz="2000" dirty="0"/>
              <a:t>生意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shēngyì  </a:t>
            </a:r>
            <a:r>
              <a:rPr kumimoji="1" lang="zh-CN" altLang="en-US" sz="2000" dirty="0"/>
              <a:t>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jiù  </a:t>
            </a:r>
            <a:r>
              <a:rPr kumimoji="1" lang="zh-CN" altLang="en-US" sz="2000" dirty="0"/>
              <a:t>这样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zhèyàng  </a:t>
            </a:r>
            <a:r>
              <a:rPr kumimoji="1" lang="zh-CN" altLang="en-US" sz="2000" dirty="0"/>
              <a:t>成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chéng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。 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That's how business is done.</a:t>
            </a:r>
            <a:endParaRPr kumimoji="1" lang="zh-CN" altLang="en-US" sz="2000" dirty="0"/>
          </a:p>
        </p:txBody>
      </p:sp>
      <p:pic>
        <p:nvPicPr>
          <p:cNvPr id="2" name="生意.wav" descr="生意.wav">
            <a:hlinkClick r:id="" action="ppaction://media"/>
            <a:extLst>
              <a:ext uri="{FF2B5EF4-FFF2-40B4-BE49-F238E27FC236}">
                <a16:creationId xmlns:a16="http://schemas.microsoft.com/office/drawing/2014/main" id="{02AC37FE-ACB1-4144-9877-3CBEBB130A93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57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BAC9F575-AB87-B446-8423-1BBE58EEF4AF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298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标题 1">
            <a:extLst>
              <a:ext uri="{FF2B5EF4-FFF2-40B4-BE49-F238E27FC236}">
                <a16:creationId xmlns:a16="http://schemas.microsoft.com/office/drawing/2014/main" id="{30AF8D4C-7930-F64A-A244-25C47DB236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00DF3F-0328-B741-A429-EDCC0F3A8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business; trade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意思  </a:t>
            </a:r>
            <a:r>
              <a:rPr lang="en-US" altLang="zh-CN" sz="2000" dirty="0"/>
              <a:t>B.</a:t>
            </a:r>
            <a:r>
              <a:rPr lang="zh-CN" altLang="en-US" sz="2000" dirty="0"/>
              <a:t>新闻  </a:t>
            </a:r>
            <a:r>
              <a:rPr lang="en-US" altLang="zh-CN" sz="2000" dirty="0"/>
              <a:t>C.</a:t>
            </a:r>
            <a:r>
              <a:rPr lang="zh-CN" altLang="en-US" sz="2000" dirty="0"/>
              <a:t>唱歌  </a:t>
            </a:r>
            <a:r>
              <a:rPr lang="en-US" altLang="zh-CN" sz="2000" dirty="0"/>
              <a:t>D.</a:t>
            </a:r>
            <a:r>
              <a:rPr lang="zh-CN" altLang="en-US" sz="2000" dirty="0"/>
              <a:t>生意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做（）   </a:t>
            </a:r>
            <a:r>
              <a:rPr lang="en-US" altLang="zh-CN" sz="2000" dirty="0"/>
              <a:t>A.</a:t>
            </a:r>
            <a:r>
              <a:rPr lang="zh-CN" altLang="en-US" sz="2000" dirty="0"/>
              <a:t>近</a:t>
            </a:r>
            <a:r>
              <a:rPr lang="en-US" altLang="zh-CN" sz="2000" dirty="0"/>
              <a:t>  B.</a:t>
            </a:r>
            <a:r>
              <a:rPr lang="zh-CN" altLang="en-US" sz="2000" dirty="0"/>
              <a:t>公司 </a:t>
            </a:r>
            <a:r>
              <a:rPr lang="en-US" altLang="zh-CN" sz="2000" dirty="0"/>
              <a:t> C.</a:t>
            </a:r>
            <a:r>
              <a:rPr lang="zh-CN" altLang="en-US" sz="2000" dirty="0"/>
              <a:t>生意 </a:t>
            </a:r>
            <a:r>
              <a:rPr lang="en-US" altLang="zh-CN" sz="2000" dirty="0"/>
              <a:t>D.</a:t>
            </a:r>
            <a:r>
              <a:rPr lang="zh-CN" altLang="en-US" sz="2000" dirty="0"/>
              <a:t>新鲜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（）好极了  </a:t>
            </a:r>
            <a:r>
              <a:rPr lang="en-US" altLang="zh-CN" sz="2000" dirty="0"/>
              <a:t>A. </a:t>
            </a:r>
            <a:r>
              <a:rPr lang="zh-CN" altLang="en-US" sz="2000" dirty="0"/>
              <a:t>万 </a:t>
            </a:r>
            <a:r>
              <a:rPr lang="en-US" altLang="zh-CN" sz="2000" dirty="0"/>
              <a:t> B.</a:t>
            </a:r>
            <a:r>
              <a:rPr lang="zh-CN" altLang="en-US" sz="2000" dirty="0"/>
              <a:t>不 </a:t>
            </a:r>
            <a:r>
              <a:rPr lang="en-US" altLang="zh-CN" sz="2000" dirty="0"/>
              <a:t> C.</a:t>
            </a:r>
            <a:r>
              <a:rPr lang="zh-CN" altLang="en-US" sz="2000" dirty="0"/>
              <a:t>黑 </a:t>
            </a:r>
            <a:r>
              <a:rPr lang="en-US" altLang="zh-CN" sz="2000" dirty="0"/>
              <a:t>D.</a:t>
            </a:r>
            <a:r>
              <a:rPr lang="zh-CN" altLang="en-US" sz="2000" dirty="0"/>
              <a:t>生意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 </a:t>
            </a:r>
            <a:r>
              <a:rPr lang="en-US" altLang="zh-CN" sz="2000" dirty="0"/>
              <a:t>y__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生（）就这样成了。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798CC3A-5416-2342-99FD-061882A12B6B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5924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0533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部分？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57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>
            <a:extLst>
              <a:ext uri="{FF2B5EF4-FFF2-40B4-BE49-F238E27FC236}">
                <a16:creationId xmlns:a16="http://schemas.microsoft.com/office/drawing/2014/main" id="{3EA2339D-92F2-7D46-8ECE-B2FC888175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部分 </a:t>
            </a:r>
            <a:r>
              <a:rPr kumimoji="1" lang="zh-CN" altLang="zh-CN"/>
              <a:t>bùfen </a:t>
            </a:r>
            <a:endParaRPr kumimoji="1" lang="zh-CN" altLang="en-US"/>
          </a:p>
        </p:txBody>
      </p:sp>
      <p:sp>
        <p:nvSpPr>
          <p:cNvPr id="7170" name="内容占位符 2">
            <a:extLst>
              <a:ext uri="{FF2B5EF4-FFF2-40B4-BE49-F238E27FC236}">
                <a16:creationId xmlns:a16="http://schemas.microsoft.com/office/drawing/2014/main" id="{D63863D4-0DD4-DA47-B071-C88FBC5EDF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部 </a:t>
            </a:r>
            <a:r>
              <a:rPr lang="zh-CN" altLang="zh-CN" sz="2000">
                <a:solidFill>
                  <a:srgbClr val="000000"/>
                </a:solidFill>
              </a:rPr>
              <a:t>bù</a:t>
            </a:r>
            <a:r>
              <a:rPr lang="zh-CN" altLang="en-US" sz="2000">
                <a:solidFill>
                  <a:srgbClr val="000000"/>
                </a:solidFill>
              </a:rPr>
              <a:t> </a:t>
            </a:r>
            <a:r>
              <a:rPr lang="en-US" altLang="zh-CN" sz="2000">
                <a:solidFill>
                  <a:srgbClr val="000000"/>
                </a:solidFill>
              </a:rPr>
              <a:t>NOUN</a:t>
            </a:r>
            <a:r>
              <a:rPr lang="zh-CN" altLang="en-US" sz="2000">
                <a:solidFill>
                  <a:srgbClr val="000000"/>
                </a:solidFill>
              </a:rPr>
              <a:t> </a:t>
            </a:r>
            <a:r>
              <a:rPr lang="en-US" altLang="zh-CN" sz="2000">
                <a:solidFill>
                  <a:srgbClr val="000000"/>
                </a:solidFill>
              </a:rPr>
              <a:t>part; section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分 </a:t>
            </a:r>
            <a:r>
              <a:rPr lang="zh-CN" altLang="zh-CN" sz="2000">
                <a:solidFill>
                  <a:srgbClr val="000000"/>
                </a:solidFill>
              </a:rPr>
              <a:t>fēn VERB divide; separate; part 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NOUN  part;</a:t>
            </a:r>
            <a:r>
              <a:rPr lang="zh-CN" altLang="en-US" sz="2000">
                <a:solidFill>
                  <a:srgbClr val="000000"/>
                </a:solidFill>
              </a:rPr>
              <a:t> </a:t>
            </a:r>
            <a:r>
              <a:rPr lang="en-US" altLang="zh-CN" sz="2000">
                <a:solidFill>
                  <a:srgbClr val="000000"/>
                </a:solidFill>
              </a:rPr>
              <a:t>section;</a:t>
            </a:r>
            <a:r>
              <a:rPr lang="zh-CN" altLang="en-US" sz="2000">
                <a:solidFill>
                  <a:srgbClr val="000000"/>
                </a:solidFill>
              </a:rPr>
              <a:t> </a:t>
            </a:r>
            <a:r>
              <a:rPr lang="en-US" altLang="zh-CN" sz="2000">
                <a:solidFill>
                  <a:srgbClr val="000000"/>
                </a:solidFill>
              </a:rPr>
              <a:t>share</a:t>
            </a:r>
            <a:endParaRPr lang="zh-CN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>
                <a:solidFill>
                  <a:srgbClr val="000000"/>
                </a:solidFill>
              </a:rPr>
              <a:t>分为几部分  </a:t>
            </a:r>
            <a:r>
              <a:rPr lang="zh-CN" altLang="zh-CN" sz="2000">
                <a:solidFill>
                  <a:srgbClr val="000000"/>
                </a:solidFill>
              </a:rPr>
              <a:t>divided into parts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>
                <a:solidFill>
                  <a:srgbClr val="000000"/>
                </a:solidFill>
              </a:rPr>
              <a:t>他完成了自己的那部分工作。</a:t>
            </a:r>
            <a:endParaRPr kumimoji="1" lang="en-US" altLang="zh-CN" sz="200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sz="2000"/>
              <a:t>他</a:t>
            </a:r>
            <a:r>
              <a:rPr kumimoji="1" lang="en-US" altLang="zh-CN" sz="2000"/>
              <a:t>/</a:t>
            </a:r>
            <a:r>
              <a:rPr kumimoji="1" lang="zh-CN" altLang="zh-CN" sz="2000"/>
              <a:t>tā  </a:t>
            </a:r>
            <a:r>
              <a:rPr kumimoji="1" lang="zh-CN" altLang="en-US" sz="2000"/>
              <a:t>完成</a:t>
            </a:r>
            <a:r>
              <a:rPr kumimoji="1" lang="en-US" altLang="zh-CN" sz="2000"/>
              <a:t>/</a:t>
            </a:r>
            <a:r>
              <a:rPr kumimoji="1" lang="zh-CN" altLang="zh-CN" sz="2000"/>
              <a:t>wánchéng  </a:t>
            </a:r>
            <a:r>
              <a:rPr kumimoji="1" lang="zh-CN" altLang="en-US" sz="2000"/>
              <a:t>了</a:t>
            </a:r>
            <a:r>
              <a:rPr kumimoji="1" lang="en-US" altLang="zh-CN" sz="2000"/>
              <a:t>/</a:t>
            </a:r>
            <a:r>
              <a:rPr kumimoji="1" lang="zh-CN" altLang="zh-CN" sz="2000"/>
              <a:t>le  </a:t>
            </a:r>
            <a:r>
              <a:rPr kumimoji="1" lang="zh-CN" altLang="en-US" sz="2000"/>
              <a:t>自己</a:t>
            </a:r>
            <a:r>
              <a:rPr kumimoji="1" lang="en-US" altLang="zh-CN" sz="2000"/>
              <a:t>/</a:t>
            </a:r>
            <a:r>
              <a:rPr kumimoji="1" lang="zh-CN" altLang="zh-CN" sz="2000"/>
              <a:t>zìjǐ  </a:t>
            </a:r>
            <a:r>
              <a:rPr kumimoji="1" lang="zh-CN" altLang="en-US" sz="2000"/>
              <a:t>的</a:t>
            </a:r>
            <a:r>
              <a:rPr kumimoji="1" lang="en-US" altLang="zh-CN" sz="2000"/>
              <a:t>/</a:t>
            </a:r>
            <a:r>
              <a:rPr kumimoji="1" lang="zh-CN" altLang="zh-CN" sz="2000"/>
              <a:t>de  </a:t>
            </a:r>
            <a:r>
              <a:rPr kumimoji="1" lang="zh-CN" altLang="en-US" sz="2000"/>
              <a:t>那</a:t>
            </a:r>
            <a:r>
              <a:rPr kumimoji="1" lang="en-US" altLang="zh-CN" sz="2000"/>
              <a:t>/</a:t>
            </a:r>
            <a:r>
              <a:rPr kumimoji="1" lang="zh-CN" altLang="zh-CN" sz="2000"/>
              <a:t>nà  </a:t>
            </a:r>
            <a:r>
              <a:rPr kumimoji="1" lang="zh-CN" altLang="en-US" sz="2000"/>
              <a:t>部分</a:t>
            </a:r>
            <a:r>
              <a:rPr kumimoji="1" lang="en-US" altLang="zh-CN" sz="2000"/>
              <a:t>/</a:t>
            </a:r>
            <a:r>
              <a:rPr kumimoji="1" lang="zh-CN" altLang="zh-CN" sz="2000"/>
              <a:t>bùfen  </a:t>
            </a:r>
            <a:r>
              <a:rPr kumimoji="1" lang="zh-CN" altLang="en-US" sz="2000"/>
              <a:t>工作</a:t>
            </a:r>
            <a:r>
              <a:rPr kumimoji="1" lang="en-US" altLang="zh-CN" sz="2000"/>
              <a:t>/</a:t>
            </a:r>
            <a:r>
              <a:rPr kumimoji="1" lang="zh-CN" altLang="zh-CN" sz="2000"/>
              <a:t>gōngzuò  。 </a:t>
            </a:r>
            <a:endParaRPr kumimoji="1" lang="en-US" altLang="zh-CN" sz="2000"/>
          </a:p>
          <a:p>
            <a:pPr eaLnBrk="1" hangingPunct="1"/>
            <a:r>
              <a:rPr kumimoji="1" lang="zh-CN" altLang="zh-CN" sz="2000"/>
              <a:t>He did his part.</a:t>
            </a:r>
            <a:endParaRPr kumimoji="1" lang="zh-CN" altLang="en-US" sz="2000"/>
          </a:p>
        </p:txBody>
      </p:sp>
      <p:pic>
        <p:nvPicPr>
          <p:cNvPr id="2" name="部分.wav" descr="部分.wav">
            <a:hlinkClick r:id="" action="ppaction://media"/>
            <a:extLst>
              <a:ext uri="{FF2B5EF4-FFF2-40B4-BE49-F238E27FC236}">
                <a16:creationId xmlns:a16="http://schemas.microsoft.com/office/drawing/2014/main" id="{98D365A3-A75B-9A48-8066-6EFC3E04076A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50482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部.wav" descr="部.wav">
            <a:hlinkClick r:id="" action="ppaction://media"/>
            <a:extLst>
              <a:ext uri="{FF2B5EF4-FFF2-40B4-BE49-F238E27FC236}">
                <a16:creationId xmlns:a16="http://schemas.microsoft.com/office/drawing/2014/main" id="{99A8CED3-4ADA-4342-9DAE-896D52FD440D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203325"/>
            <a:ext cx="4730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分.wav" descr="分.wav">
            <a:hlinkClick r:id="" action="ppaction://media"/>
            <a:extLst>
              <a:ext uri="{FF2B5EF4-FFF2-40B4-BE49-F238E27FC236}">
                <a16:creationId xmlns:a16="http://schemas.microsoft.com/office/drawing/2014/main" id="{95F046BF-9337-564B-97A8-4FF755BC7694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00" y="1600200"/>
            <a:ext cx="4730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分为几部分.wav" descr="分为几部分.wav">
            <a:hlinkClick r:id="" action="ppaction://media"/>
            <a:extLst>
              <a:ext uri="{FF2B5EF4-FFF2-40B4-BE49-F238E27FC236}">
                <a16:creationId xmlns:a16="http://schemas.microsoft.com/office/drawing/2014/main" id="{0813A4B2-868D-634D-82E4-E70BA1E53C02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651125"/>
            <a:ext cx="4730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他完成了自己的那部分工作。.wav" descr="他完成了自己的那部分工作。.wav">
            <a:hlinkClick r:id="" action="ppaction://media"/>
            <a:extLst>
              <a:ext uri="{FF2B5EF4-FFF2-40B4-BE49-F238E27FC236}">
                <a16:creationId xmlns:a16="http://schemas.microsoft.com/office/drawing/2014/main" id="{E03D0C1E-F40A-354D-85BE-F5DE62CDFE45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600" y="3336925"/>
            <a:ext cx="4730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369C2C6D-203B-3C42-834D-2F90520D5C9F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3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4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29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>
            <a:extLst>
              <a:ext uri="{FF2B5EF4-FFF2-40B4-BE49-F238E27FC236}">
                <a16:creationId xmlns:a16="http://schemas.microsoft.com/office/drawing/2014/main" id="{3EA2339D-92F2-7D46-8ECE-B2FC888175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部分 </a:t>
            </a:r>
            <a:r>
              <a:rPr kumimoji="1" lang="zh-CN" altLang="zh-CN"/>
              <a:t>bùfen </a:t>
            </a:r>
            <a:endParaRPr kumimoji="1" lang="zh-CN" altLang="en-US"/>
          </a:p>
        </p:txBody>
      </p:sp>
      <p:sp>
        <p:nvSpPr>
          <p:cNvPr id="7170" name="内容占位符 2">
            <a:extLst>
              <a:ext uri="{FF2B5EF4-FFF2-40B4-BE49-F238E27FC236}">
                <a16:creationId xmlns:a16="http://schemas.microsoft.com/office/drawing/2014/main" id="{D63863D4-0DD4-DA47-B071-C88FBC5EDF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NOUN  part;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section;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share</a:t>
            </a:r>
            <a:endParaRPr lang="zh-CN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分为几部分  </a:t>
            </a:r>
            <a:r>
              <a:rPr lang="zh-CN" altLang="zh-CN" sz="2000" dirty="0">
                <a:solidFill>
                  <a:srgbClr val="000000"/>
                </a:solidFill>
              </a:rPr>
              <a:t>divided into parts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他完成了自己的那部分工作。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sz="2000" dirty="0"/>
              <a:t>他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完成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wánchéng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</a:t>
            </a:r>
            <a:r>
              <a:rPr kumimoji="1" lang="zh-CN" altLang="en-US" sz="2000" dirty="0"/>
              <a:t>自己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zìjǐ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那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nà  </a:t>
            </a:r>
            <a:r>
              <a:rPr kumimoji="1" lang="zh-CN" altLang="en-US" sz="2000" dirty="0"/>
              <a:t>部分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bùfen  </a:t>
            </a:r>
            <a:r>
              <a:rPr kumimoji="1" lang="zh-CN" altLang="en-US" sz="2000" dirty="0"/>
              <a:t>工作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gōngzuò  。 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He did his part.</a:t>
            </a:r>
            <a:endParaRPr kumimoji="1" lang="zh-CN" altLang="en-US" sz="2000" dirty="0"/>
          </a:p>
        </p:txBody>
      </p:sp>
      <p:pic>
        <p:nvPicPr>
          <p:cNvPr id="2" name="部分.wav" descr="部分.wav">
            <a:hlinkClick r:id="" action="ppaction://media"/>
            <a:extLst>
              <a:ext uri="{FF2B5EF4-FFF2-40B4-BE49-F238E27FC236}">
                <a16:creationId xmlns:a16="http://schemas.microsoft.com/office/drawing/2014/main" id="{98D365A3-A75B-9A48-8066-6EFC3E04076A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50482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分为几部分.wav" descr="分为几部分.wav">
            <a:hlinkClick r:id="" action="ppaction://media"/>
            <a:extLst>
              <a:ext uri="{FF2B5EF4-FFF2-40B4-BE49-F238E27FC236}">
                <a16:creationId xmlns:a16="http://schemas.microsoft.com/office/drawing/2014/main" id="{0813A4B2-868D-634D-82E4-E70BA1E53C02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905000"/>
            <a:ext cx="4730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他完成了自己的那部分工作。.wav" descr="他完成了自己的那部分工作。.wav">
            <a:hlinkClick r:id="" action="ppaction://media"/>
            <a:extLst>
              <a:ext uri="{FF2B5EF4-FFF2-40B4-BE49-F238E27FC236}">
                <a16:creationId xmlns:a16="http://schemas.microsoft.com/office/drawing/2014/main" id="{E03D0C1E-F40A-354D-85BE-F5DE62CDFE45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600" y="2590800"/>
            <a:ext cx="4730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ADF6D561-D10E-C643-B3A9-DC9F97BDDE01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028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9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>
            <a:extLst>
              <a:ext uri="{FF2B5EF4-FFF2-40B4-BE49-F238E27FC236}">
                <a16:creationId xmlns:a16="http://schemas.microsoft.com/office/drawing/2014/main" id="{3EA2339D-92F2-7D46-8ECE-B2FC888175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部分 </a:t>
            </a:r>
            <a:r>
              <a:rPr kumimoji="1" lang="zh-CN" altLang="zh-CN"/>
              <a:t>bùfen </a:t>
            </a:r>
            <a:endParaRPr kumimoji="1" lang="zh-CN" altLang="en-US"/>
          </a:p>
        </p:txBody>
      </p:sp>
      <p:sp>
        <p:nvSpPr>
          <p:cNvPr id="7170" name="内容占位符 2">
            <a:extLst>
              <a:ext uri="{FF2B5EF4-FFF2-40B4-BE49-F238E27FC236}">
                <a16:creationId xmlns:a16="http://schemas.microsoft.com/office/drawing/2014/main" id="{D63863D4-0DD4-DA47-B071-C88FBC5EDF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/>
            <a:r>
              <a:rPr lang="zh-CN" altLang="en-US" sz="2000" dirty="0">
                <a:solidFill>
                  <a:srgbClr val="000000"/>
                </a:solidFill>
              </a:rPr>
              <a:t>分为几部分  </a:t>
            </a:r>
            <a:r>
              <a:rPr lang="zh-CN" altLang="zh-CN" sz="2000" dirty="0">
                <a:solidFill>
                  <a:srgbClr val="000000"/>
                </a:solidFill>
              </a:rPr>
              <a:t>divided into parts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他完成了自己的那部分工作。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sz="2000" dirty="0"/>
              <a:t>他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完成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wánchéng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</a:t>
            </a:r>
            <a:r>
              <a:rPr kumimoji="1" lang="zh-CN" altLang="en-US" sz="2000" dirty="0"/>
              <a:t>自己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zìjǐ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那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nà  </a:t>
            </a:r>
            <a:r>
              <a:rPr kumimoji="1" lang="zh-CN" altLang="en-US" sz="2000" dirty="0"/>
              <a:t>部分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bùfen  </a:t>
            </a:r>
            <a:r>
              <a:rPr kumimoji="1" lang="zh-CN" altLang="en-US" sz="2000" dirty="0"/>
              <a:t>工作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gōngzuò  。 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He did his part.</a:t>
            </a:r>
            <a:endParaRPr kumimoji="1" lang="zh-CN" altLang="en-US" sz="2000" dirty="0"/>
          </a:p>
        </p:txBody>
      </p:sp>
      <p:pic>
        <p:nvPicPr>
          <p:cNvPr id="2" name="部分.wav" descr="部分.wav">
            <a:hlinkClick r:id="" action="ppaction://media"/>
            <a:extLst>
              <a:ext uri="{FF2B5EF4-FFF2-40B4-BE49-F238E27FC236}">
                <a16:creationId xmlns:a16="http://schemas.microsoft.com/office/drawing/2014/main" id="{98D365A3-A75B-9A48-8066-6EFC3E04076A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50482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分为几部分.wav" descr="分为几部分.wav">
            <a:hlinkClick r:id="" action="ppaction://media"/>
            <a:extLst>
              <a:ext uri="{FF2B5EF4-FFF2-40B4-BE49-F238E27FC236}">
                <a16:creationId xmlns:a16="http://schemas.microsoft.com/office/drawing/2014/main" id="{0813A4B2-868D-634D-82E4-E70BA1E53C02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584325"/>
            <a:ext cx="4730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他完成了自己的那部分工作。.wav" descr="他完成了自己的那部分工作。.wav">
            <a:hlinkClick r:id="" action="ppaction://media"/>
            <a:extLst>
              <a:ext uri="{FF2B5EF4-FFF2-40B4-BE49-F238E27FC236}">
                <a16:creationId xmlns:a16="http://schemas.microsoft.com/office/drawing/2014/main" id="{E03D0C1E-F40A-354D-85BE-F5DE62CDFE45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600" y="2270125"/>
            <a:ext cx="4730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461B8A66-1941-524E-A239-3450DF2040F6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046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9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>
            <a:extLst>
              <a:ext uri="{FF2B5EF4-FFF2-40B4-BE49-F238E27FC236}">
                <a16:creationId xmlns:a16="http://schemas.microsoft.com/office/drawing/2014/main" id="{3EA2339D-92F2-7D46-8ECE-B2FC888175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部分 </a:t>
            </a:r>
            <a:r>
              <a:rPr kumimoji="1" lang="zh-CN" altLang="zh-CN"/>
              <a:t>bùfen </a:t>
            </a:r>
            <a:endParaRPr kumimoji="1" lang="zh-CN" altLang="en-US"/>
          </a:p>
        </p:txBody>
      </p:sp>
      <p:sp>
        <p:nvSpPr>
          <p:cNvPr id="7170" name="内容占位符 2">
            <a:extLst>
              <a:ext uri="{FF2B5EF4-FFF2-40B4-BE49-F238E27FC236}">
                <a16:creationId xmlns:a16="http://schemas.microsoft.com/office/drawing/2014/main" id="{D63863D4-0DD4-DA47-B071-C88FBC5EDF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eaLnBrk="1" hangingPunct="1"/>
            <a:r>
              <a:rPr kumimoji="1" lang="zh-CN" altLang="en-US" sz="2000" dirty="0">
                <a:solidFill>
                  <a:srgbClr val="000000"/>
                </a:solidFill>
              </a:rPr>
              <a:t>他完成了自己的那部分工作。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eaLnBrk="1" hangingPunct="1"/>
            <a:r>
              <a:rPr kumimoji="1" lang="zh-CN" altLang="en-US" sz="2000" dirty="0"/>
              <a:t>他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tā  </a:t>
            </a:r>
            <a:r>
              <a:rPr kumimoji="1" lang="zh-CN" altLang="en-US" sz="2000" dirty="0"/>
              <a:t>完成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wánchéng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le  </a:t>
            </a:r>
            <a:r>
              <a:rPr kumimoji="1" lang="zh-CN" altLang="en-US" sz="2000" dirty="0"/>
              <a:t>自己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zìjǐ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de  </a:t>
            </a:r>
            <a:r>
              <a:rPr kumimoji="1" lang="zh-CN" altLang="en-US" sz="2000" dirty="0"/>
              <a:t>那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nà  </a:t>
            </a:r>
            <a:r>
              <a:rPr kumimoji="1" lang="zh-CN" altLang="en-US" sz="2000" dirty="0"/>
              <a:t>部分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bùfen  </a:t>
            </a:r>
            <a:r>
              <a:rPr kumimoji="1" lang="zh-CN" altLang="en-US" sz="2000" dirty="0"/>
              <a:t>工作</a:t>
            </a:r>
            <a:r>
              <a:rPr kumimoji="1" lang="en-US" altLang="zh-CN" sz="2000" dirty="0"/>
              <a:t>/</a:t>
            </a:r>
            <a:r>
              <a:rPr kumimoji="1" lang="zh-CN" altLang="zh-CN" sz="2000" dirty="0"/>
              <a:t>gōngzuò  。 </a:t>
            </a:r>
            <a:endParaRPr kumimoji="1" lang="en-US" altLang="zh-CN" sz="2000" dirty="0"/>
          </a:p>
          <a:p>
            <a:pPr eaLnBrk="1" hangingPunct="1"/>
            <a:r>
              <a:rPr kumimoji="1" lang="zh-CN" altLang="zh-CN" sz="2000" dirty="0"/>
              <a:t>He did his part.</a:t>
            </a:r>
            <a:endParaRPr kumimoji="1" lang="zh-CN" altLang="en-US" sz="2000" dirty="0"/>
          </a:p>
        </p:txBody>
      </p:sp>
      <p:pic>
        <p:nvPicPr>
          <p:cNvPr id="2" name="部分.wav" descr="部分.wav">
            <a:hlinkClick r:id="" action="ppaction://media"/>
            <a:extLst>
              <a:ext uri="{FF2B5EF4-FFF2-40B4-BE49-F238E27FC236}">
                <a16:creationId xmlns:a16="http://schemas.microsoft.com/office/drawing/2014/main" id="{98D365A3-A75B-9A48-8066-6EFC3E04076A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50482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他完成了自己的那部分工作。.wav" descr="他完成了自己的那部分工作。.wav">
            <a:hlinkClick r:id="" action="ppaction://media"/>
            <a:extLst>
              <a:ext uri="{FF2B5EF4-FFF2-40B4-BE49-F238E27FC236}">
                <a16:creationId xmlns:a16="http://schemas.microsoft.com/office/drawing/2014/main" id="{E03D0C1E-F40A-354D-85BE-F5DE62CDFE45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600" y="1524000"/>
            <a:ext cx="47307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71F0CE5A-D94A-0F41-B322-8728EFE1B3E9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2366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9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1">
            <a:extLst>
              <a:ext uri="{FF2B5EF4-FFF2-40B4-BE49-F238E27FC236}">
                <a16:creationId xmlns:a16="http://schemas.microsoft.com/office/drawing/2014/main" id="{D64FF698-6035-6941-A481-F7820C4978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53E04D-C20B-1C42-AF69-06B5F7774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part;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section;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share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   </a:t>
            </a:r>
            <a:r>
              <a:rPr lang="en-US" altLang="zh-CN" sz="2000" dirty="0"/>
              <a:t>A.</a:t>
            </a:r>
            <a:r>
              <a:rPr lang="zh-CN" altLang="en-US" sz="2000" dirty="0"/>
              <a:t>上  </a:t>
            </a:r>
            <a:r>
              <a:rPr lang="en-US" altLang="zh-CN" sz="2000" dirty="0"/>
              <a:t>B.</a:t>
            </a:r>
            <a:r>
              <a:rPr lang="zh-CN" altLang="en-US" sz="2000" dirty="0"/>
              <a:t>部分  </a:t>
            </a:r>
            <a:r>
              <a:rPr lang="en-US" altLang="zh-CN" sz="2000" dirty="0"/>
              <a:t>C.</a:t>
            </a:r>
            <a:r>
              <a:rPr lang="zh-CN" altLang="en-US" sz="2000" dirty="0"/>
              <a:t>准备  </a:t>
            </a:r>
            <a:r>
              <a:rPr lang="en-US" altLang="zh-CN" sz="2000" dirty="0"/>
              <a:t>D.</a:t>
            </a:r>
            <a:r>
              <a:rPr lang="zh-CN" altLang="en-US" sz="2000" dirty="0"/>
              <a:t>手机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分为几</a:t>
            </a:r>
            <a:r>
              <a:rPr lang="zh-CN" altLang="en-US" sz="2000" dirty="0"/>
              <a:t>（）   </a:t>
            </a:r>
            <a:r>
              <a:rPr lang="en-US" altLang="zh-CN" sz="2000" dirty="0"/>
              <a:t>A.</a:t>
            </a:r>
            <a:r>
              <a:rPr lang="zh-CN" altLang="en-US" sz="2000" dirty="0"/>
              <a:t>打篮球</a:t>
            </a:r>
            <a:r>
              <a:rPr lang="en-US" altLang="zh-CN" sz="2000" dirty="0"/>
              <a:t>  B.</a:t>
            </a:r>
            <a:r>
              <a:rPr lang="zh-CN" altLang="en-US" sz="2000" dirty="0"/>
              <a:t>来 </a:t>
            </a:r>
            <a:r>
              <a:rPr lang="en-US" altLang="zh-CN" sz="2000" dirty="0"/>
              <a:t> C.</a:t>
            </a:r>
            <a:r>
              <a:rPr lang="zh-CN" altLang="en-US" sz="2000" dirty="0"/>
              <a:t>部分 </a:t>
            </a:r>
            <a:r>
              <a:rPr lang="en-US" altLang="zh-CN" sz="2000" dirty="0"/>
              <a:t>D.</a:t>
            </a:r>
            <a:r>
              <a:rPr lang="zh-CN" altLang="en-US" sz="2000" dirty="0"/>
              <a:t>环境</a:t>
            </a:r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他完成了自己的那部（）工作。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C0E5BF93-9610-C043-ADA1-BD8F9840E441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9787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2427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景色？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 marL="0" indent="0">
              <a:buNone/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3581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3962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678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">
            <a:extLst>
              <a:ext uri="{FF2B5EF4-FFF2-40B4-BE49-F238E27FC236}">
                <a16:creationId xmlns:a16="http://schemas.microsoft.com/office/drawing/2014/main" id="{929645CF-31F2-644A-B754-75E123A4D3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景色 </a:t>
            </a:r>
            <a:r>
              <a:rPr kumimoji="1" lang="zh-CN" altLang="zh-CN"/>
              <a:t>jǐngsè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56AD41-A635-274D-AE39-C49B76785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景 </a:t>
            </a:r>
            <a:r>
              <a:rPr lang="en" altLang="zh-CN" sz="2000" dirty="0" err="1">
                <a:solidFill>
                  <a:srgbClr val="000000"/>
                </a:solidFill>
              </a:rPr>
              <a:t>jǐng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NOUN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view; </a:t>
            </a:r>
            <a:r>
              <a:rPr lang="en-US" altLang="zh-CN" sz="2000" dirty="0" err="1">
                <a:solidFill>
                  <a:srgbClr val="000000"/>
                </a:solidFill>
              </a:rPr>
              <a:t>scenary</a:t>
            </a:r>
            <a:r>
              <a:rPr lang="en-US" altLang="zh-CN" sz="2000" dirty="0">
                <a:solidFill>
                  <a:srgbClr val="000000"/>
                </a:solidFill>
              </a:rPr>
              <a:t>; scene 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色 </a:t>
            </a:r>
            <a:r>
              <a:rPr lang="en" altLang="zh-CN" sz="2000" dirty="0" err="1">
                <a:solidFill>
                  <a:srgbClr val="000000"/>
                </a:solidFill>
              </a:rPr>
              <a:t>sè</a:t>
            </a:r>
            <a:r>
              <a:rPr lang="en" altLang="zh-CN" sz="2000" dirty="0">
                <a:solidFill>
                  <a:srgbClr val="000000"/>
                </a:solidFill>
              </a:rPr>
              <a:t> 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NOUN scene; </a:t>
            </a:r>
            <a:r>
              <a:rPr lang="en-US" altLang="zh-CN" sz="2000" dirty="0" err="1">
                <a:solidFill>
                  <a:srgbClr val="000000"/>
                </a:solidFill>
              </a:rPr>
              <a:t>scenary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NOUN</a:t>
            </a:r>
            <a:r>
              <a:rPr lang="zh-CN" altLang="en-US" sz="2000" dirty="0">
                <a:solidFill>
                  <a:srgbClr val="000000"/>
                </a:solidFill>
              </a:rPr>
              <a:t>  </a:t>
            </a:r>
            <a:r>
              <a:rPr lang="en" altLang="zh-CN" sz="2000" dirty="0">
                <a:solidFill>
                  <a:srgbClr val="000000"/>
                </a:solidFill>
              </a:rPr>
              <a:t>scenery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小夏：这里的景色真美，空气也好。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小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xiǎo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夏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xià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：  </a:t>
            </a:r>
            <a:r>
              <a:rPr kumimoji="1" lang="zh-CN" altLang="en-US" sz="2000" dirty="0"/>
              <a:t>这里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zhèlǐ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de  </a:t>
            </a:r>
            <a:r>
              <a:rPr kumimoji="1" lang="zh-CN" altLang="en-US" sz="2000" dirty="0"/>
              <a:t>景色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jǐngsè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真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zhēn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美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měi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，  </a:t>
            </a:r>
            <a:r>
              <a:rPr kumimoji="1" lang="zh-CN" altLang="en-US" sz="2000" dirty="0"/>
              <a:t>空气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kōngqì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也好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yěhǎo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Xiaoxia: The scenery here is really beautiful and the air is good.</a:t>
            </a:r>
            <a:endParaRPr kumimoji="1" lang="zh-CN" altLang="en-US" sz="2000" dirty="0"/>
          </a:p>
        </p:txBody>
      </p:sp>
      <p:pic>
        <p:nvPicPr>
          <p:cNvPr id="2" name="景色.wav" descr="景色.wav">
            <a:hlinkClick r:id="" action="ppaction://media"/>
            <a:extLst>
              <a:ext uri="{FF2B5EF4-FFF2-40B4-BE49-F238E27FC236}">
                <a16:creationId xmlns:a16="http://schemas.microsoft.com/office/drawing/2014/main" id="{B29C0A88-FE2E-1142-9424-1B9B6D9B5A03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07988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景.wav" descr="景.wav">
            <a:hlinkClick r:id="" action="ppaction://media"/>
            <a:extLst>
              <a:ext uri="{FF2B5EF4-FFF2-40B4-BE49-F238E27FC236}">
                <a16:creationId xmlns:a16="http://schemas.microsoft.com/office/drawing/2014/main" id="{AE6D34A1-D376-D545-94E0-611EFCC8614B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800" y="1219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色.wav" descr="色.wav">
            <a:hlinkClick r:id="" action="ppaction://media"/>
            <a:extLst>
              <a:ext uri="{FF2B5EF4-FFF2-40B4-BE49-F238E27FC236}">
                <a16:creationId xmlns:a16="http://schemas.microsoft.com/office/drawing/2014/main" id="{C9306643-6D43-1B47-A107-A4DB6ABE3D1C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565275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小夏：这里的景色真美，空气也好。.wav" descr="小夏：这里的景色真美，空气也好。.wav">
            <a:hlinkClick r:id="" action="ppaction://media"/>
            <a:extLst>
              <a:ext uri="{FF2B5EF4-FFF2-40B4-BE49-F238E27FC236}">
                <a16:creationId xmlns:a16="http://schemas.microsoft.com/office/drawing/2014/main" id="{DC4B3A2A-51F8-2E4C-9E1D-F431263420E4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590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B5459E62-F0C4-1B4F-BBA7-24EDE895F31C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63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">
            <a:extLst>
              <a:ext uri="{FF2B5EF4-FFF2-40B4-BE49-F238E27FC236}">
                <a16:creationId xmlns:a16="http://schemas.microsoft.com/office/drawing/2014/main" id="{929645CF-31F2-644A-B754-75E123A4D3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景色 </a:t>
            </a:r>
            <a:r>
              <a:rPr kumimoji="1" lang="zh-CN" altLang="zh-CN"/>
              <a:t>jǐngsè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56AD41-A635-274D-AE39-C49B76785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NOUN</a:t>
            </a:r>
            <a:r>
              <a:rPr lang="zh-CN" altLang="en-US" sz="2000" dirty="0">
                <a:solidFill>
                  <a:srgbClr val="000000"/>
                </a:solidFill>
              </a:rPr>
              <a:t>  </a:t>
            </a:r>
            <a:r>
              <a:rPr lang="en" altLang="zh-CN" sz="2000" dirty="0">
                <a:solidFill>
                  <a:srgbClr val="000000"/>
                </a:solidFill>
              </a:rPr>
              <a:t>scenery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小夏：这里的景色真美，空气也好。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小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xiǎo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夏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xià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：  </a:t>
            </a:r>
            <a:r>
              <a:rPr kumimoji="1" lang="zh-CN" altLang="en-US" sz="2000" dirty="0"/>
              <a:t>这里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zhèlǐ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de  </a:t>
            </a:r>
            <a:r>
              <a:rPr kumimoji="1" lang="zh-CN" altLang="en-US" sz="2000" dirty="0"/>
              <a:t>景色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jǐngsè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真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zhēn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美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měi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，  </a:t>
            </a:r>
            <a:r>
              <a:rPr kumimoji="1" lang="zh-CN" altLang="en-US" sz="2000" dirty="0"/>
              <a:t>空气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kōngqì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也好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yěhǎo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Xiaoxia: The scenery here is really beautiful and the air is good.</a:t>
            </a:r>
            <a:endParaRPr kumimoji="1" lang="zh-CN" altLang="en-US" sz="2000" dirty="0"/>
          </a:p>
        </p:txBody>
      </p:sp>
      <p:pic>
        <p:nvPicPr>
          <p:cNvPr id="2" name="景色.wav" descr="景色.wav">
            <a:hlinkClick r:id="" action="ppaction://media"/>
            <a:extLst>
              <a:ext uri="{FF2B5EF4-FFF2-40B4-BE49-F238E27FC236}">
                <a16:creationId xmlns:a16="http://schemas.microsoft.com/office/drawing/2014/main" id="{B29C0A88-FE2E-1142-9424-1B9B6D9B5A03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07988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小夏：这里的景色真美，空气也好。.wav" descr="小夏：这里的景色真美，空气也好。.wav">
            <a:hlinkClick r:id="" action="ppaction://media"/>
            <a:extLst>
              <a:ext uri="{FF2B5EF4-FFF2-40B4-BE49-F238E27FC236}">
                <a16:creationId xmlns:a16="http://schemas.microsoft.com/office/drawing/2014/main" id="{DC4B3A2A-51F8-2E4C-9E1D-F431263420E4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905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C1F7D382-3649-6943-9BB9-9CA59558F03F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6527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63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">
            <a:extLst>
              <a:ext uri="{FF2B5EF4-FFF2-40B4-BE49-F238E27FC236}">
                <a16:creationId xmlns:a16="http://schemas.microsoft.com/office/drawing/2014/main" id="{929645CF-31F2-644A-B754-75E123A4D3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景色 </a:t>
            </a:r>
            <a:r>
              <a:rPr kumimoji="1" lang="zh-CN" altLang="zh-CN"/>
              <a:t>jǐngsè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56AD41-A635-274D-AE39-C49B76785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小夏：这里的景色真美，空气也好。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小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xiǎo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夏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xià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：  </a:t>
            </a:r>
            <a:r>
              <a:rPr kumimoji="1" lang="zh-CN" altLang="en-US" sz="2000" dirty="0"/>
              <a:t>这里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zhèlǐ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的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de  </a:t>
            </a:r>
            <a:r>
              <a:rPr kumimoji="1" lang="zh-CN" altLang="en-US" sz="2000" dirty="0"/>
              <a:t>景色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jǐngsè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真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zhēn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美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měi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，  </a:t>
            </a:r>
            <a:r>
              <a:rPr kumimoji="1" lang="zh-CN" altLang="en-US" sz="2000" dirty="0"/>
              <a:t>空气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kōngqì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也好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yěhǎo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Xiaoxia: The scenery here is really beautiful and the air is good.</a:t>
            </a:r>
            <a:endParaRPr kumimoji="1" lang="zh-CN" altLang="en-US" sz="2000" dirty="0"/>
          </a:p>
        </p:txBody>
      </p:sp>
      <p:pic>
        <p:nvPicPr>
          <p:cNvPr id="2" name="景色.wav" descr="景色.wav">
            <a:hlinkClick r:id="" action="ppaction://media"/>
            <a:extLst>
              <a:ext uri="{FF2B5EF4-FFF2-40B4-BE49-F238E27FC236}">
                <a16:creationId xmlns:a16="http://schemas.microsoft.com/office/drawing/2014/main" id="{B29C0A88-FE2E-1142-9424-1B9B6D9B5A03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07988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小夏：这里的景色真美，空气也好。.wav" descr="小夏：这里的景色真美，空气也好。.wav">
            <a:hlinkClick r:id="" action="ppaction://media"/>
            <a:extLst>
              <a:ext uri="{FF2B5EF4-FFF2-40B4-BE49-F238E27FC236}">
                <a16:creationId xmlns:a16="http://schemas.microsoft.com/office/drawing/2014/main" id="{DC4B3A2A-51F8-2E4C-9E1D-F431263420E4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9343" y="1447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77B60B06-9F01-1443-A1DC-8FF1A18CB260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1927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63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>
            <a:extLst>
              <a:ext uri="{FF2B5EF4-FFF2-40B4-BE49-F238E27FC236}">
                <a16:creationId xmlns:a16="http://schemas.microsoft.com/office/drawing/2014/main" id="{6AF8F7BE-CF6E-FA4F-8A08-AF7D4ED87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E34DAD-F0CA-E243-BFD2-F6007D645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" altLang="zh-CN" sz="2000" dirty="0">
                <a:solidFill>
                  <a:srgbClr val="000000"/>
                </a:solidFill>
              </a:rPr>
              <a:t>scenery</a:t>
            </a: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景色  </a:t>
            </a:r>
            <a:r>
              <a:rPr lang="en" altLang="zh-CN" sz="2000" dirty="0"/>
              <a:t>B.</a:t>
            </a:r>
            <a:r>
              <a:rPr lang="zh-CN" altLang="en-US" sz="2000" dirty="0"/>
              <a:t>了解   </a:t>
            </a:r>
            <a:r>
              <a:rPr lang="en" altLang="zh-CN" sz="2000" dirty="0"/>
              <a:t>C.</a:t>
            </a:r>
            <a:r>
              <a:rPr lang="zh-CN" altLang="en-US" sz="2000" dirty="0"/>
              <a:t>满意   </a:t>
            </a:r>
            <a:r>
              <a:rPr lang="en" altLang="zh-CN" sz="2000" dirty="0"/>
              <a:t>D.</a:t>
            </a:r>
            <a:r>
              <a:rPr lang="zh-CN" altLang="en-US" sz="2000" dirty="0"/>
              <a:t>对不起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小夏：这里的景（）真美，空气也好。</a:t>
            </a:r>
            <a:endParaRPr kumimoji="1" lang="zh-CN" altLang="en-US" sz="2000" dirty="0"/>
          </a:p>
          <a:p>
            <a:pPr marL="0" indent="0" eaLnBrk="1" hangingPunct="1">
              <a:buFontTx/>
              <a:buNone/>
              <a:defRPr/>
            </a:pP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9B73099-5858-5443-94D5-68E245ECC785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27643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13733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堵车？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3291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>
            <a:extLst>
              <a:ext uri="{FF2B5EF4-FFF2-40B4-BE49-F238E27FC236}">
                <a16:creationId xmlns:a16="http://schemas.microsoft.com/office/drawing/2014/main" id="{4A0BD39A-FDAC-6844-A166-0DCCB27DB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堵车</a:t>
            </a:r>
            <a:r>
              <a:rPr kumimoji="1" lang="en-US" altLang="zh-CN"/>
              <a:t> dǔchē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109836-F2FF-5144-A4F6-624DD6D2B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648200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2000" dirty="0"/>
              <a:t>堵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/>
              <a:t>dǔ</a:t>
            </a:r>
            <a:r>
              <a:rPr kumimoji="1" lang="en-US" altLang="zh-CN" sz="2000" dirty="0"/>
              <a:t> VERB stop up; block up</a:t>
            </a:r>
          </a:p>
          <a:p>
            <a:pPr eaLnBrk="1" hangingPunct="1">
              <a:defRPr/>
            </a:pPr>
            <a:r>
              <a:rPr kumimoji="1" lang="zh-CN" altLang="en-US" sz="2000" dirty="0"/>
              <a:t>车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/>
              <a:t>chē</a:t>
            </a:r>
            <a:r>
              <a:rPr kumimoji="1" lang="en-US" altLang="zh-CN" sz="2000" dirty="0"/>
              <a:t> NOUN vehicle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VERB</a:t>
            </a:r>
            <a:r>
              <a:rPr lang="zh-CN" altLang="en-US" sz="2000" dirty="0">
                <a:solidFill>
                  <a:srgbClr val="000000"/>
                </a:solidFill>
              </a:rPr>
              <a:t>  </a:t>
            </a:r>
            <a:r>
              <a:rPr lang="en" altLang="zh-CN" sz="2000" dirty="0">
                <a:solidFill>
                  <a:srgbClr val="000000"/>
                </a:solidFill>
              </a:rPr>
              <a:t>traffic jam; heavy traffic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经常（三级） 堵车</a:t>
            </a:r>
            <a:r>
              <a:rPr lang="en-US" altLang="zh-CN" sz="2000" dirty="0">
                <a:solidFill>
                  <a:srgbClr val="000000"/>
                </a:solidFill>
              </a:rPr>
              <a:t>  frequent traffic jams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又（三级） 堵车</a:t>
            </a:r>
            <a:r>
              <a:rPr lang="en-US" altLang="zh-CN" sz="2000" dirty="0">
                <a:solidFill>
                  <a:srgbClr val="000000"/>
                </a:solidFill>
              </a:rPr>
              <a:t>  traffic jam again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王静：那个时间路上堵车多严重啊，你还是坐地铁去机场吧。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王静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wángjìng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：  </a:t>
            </a:r>
            <a:r>
              <a:rPr kumimoji="1" lang="zh-CN" altLang="en-US" sz="2000" dirty="0"/>
              <a:t>那个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nàge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时间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shíjiān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路上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lùshang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堵车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dǔchē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多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duō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严重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yánzhòng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啊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a  </a:t>
            </a:r>
            <a:r>
              <a:rPr kumimoji="1" lang="zh-CN" altLang="en" sz="2000" dirty="0"/>
              <a:t>，  </a:t>
            </a:r>
            <a:r>
              <a:rPr kumimoji="1" lang="zh-CN" altLang="en-US" sz="2000" dirty="0"/>
              <a:t>你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nǐ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还是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háishi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坐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zuò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地铁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dìtiě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去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qù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机场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jīchǎng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吧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ba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Wang Jing: At that time, the traffic jam on the road was serious. You should take the subway to the airport.</a:t>
            </a:r>
            <a:endParaRPr kumimoji="1" lang="zh-CN" altLang="en-US" sz="2000" dirty="0"/>
          </a:p>
        </p:txBody>
      </p:sp>
      <p:pic>
        <p:nvPicPr>
          <p:cNvPr id="2" name="堵车.wav" descr="堵车.wav">
            <a:hlinkClick r:id="" action="ppaction://media"/>
            <a:extLst>
              <a:ext uri="{FF2B5EF4-FFF2-40B4-BE49-F238E27FC236}">
                <a16:creationId xmlns:a16="http://schemas.microsoft.com/office/drawing/2014/main" id="{7D2A5546-CCB0-F84F-B7B7-1F7C8D2C159D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81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堵.wav" descr="堵.wav">
            <a:hlinkClick r:id="" action="ppaction://media"/>
            <a:extLst>
              <a:ext uri="{FF2B5EF4-FFF2-40B4-BE49-F238E27FC236}">
                <a16:creationId xmlns:a16="http://schemas.microsoft.com/office/drawing/2014/main" id="{D721ACD4-7A5F-BA4C-8503-412E1E83A207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2192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车.wav" descr="车.wav">
            <a:hlinkClick r:id="" action="ppaction://media"/>
            <a:extLst>
              <a:ext uri="{FF2B5EF4-FFF2-40B4-BE49-F238E27FC236}">
                <a16:creationId xmlns:a16="http://schemas.microsoft.com/office/drawing/2014/main" id="{139AD5D2-2DFB-8C42-8380-70E5B288CE93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675" y="1524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经常堵车.wav" descr="经常堵车.wav">
            <a:hlinkClick r:id="" action="ppaction://media"/>
            <a:extLst>
              <a:ext uri="{FF2B5EF4-FFF2-40B4-BE49-F238E27FC236}">
                <a16:creationId xmlns:a16="http://schemas.microsoft.com/office/drawing/2014/main" id="{4A3111EC-CBAC-AE4F-9C9A-A596E9699DDC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338" y="2514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又堵车.wav" descr="又堵车.wav">
            <a:hlinkClick r:id="" action="ppaction://media"/>
            <a:extLst>
              <a:ext uri="{FF2B5EF4-FFF2-40B4-BE49-F238E27FC236}">
                <a16:creationId xmlns:a16="http://schemas.microsoft.com/office/drawing/2014/main" id="{700638C1-085B-544A-9901-FC293B6852AD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500" y="30226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王静：那个时间路上堵车多严重啊，你还是坐地铁去机场吧。.wav" descr="王静：那个时间路上堵车多严重啊，你还是坐地铁去机场吧。.wav">
            <a:hlinkClick r:id="" action="ppaction://media"/>
            <a:extLst>
              <a:ext uri="{FF2B5EF4-FFF2-40B4-BE49-F238E27FC236}">
                <a16:creationId xmlns:a16="http://schemas.microsoft.com/office/drawing/2014/main" id="{A0FED06E-BA75-624D-A549-64FD6C10FDBC}"/>
              </a:ext>
            </a:extLst>
          </p:cNvPr>
          <p:cNvPicPr>
            <a:picLocks noChangeAspect="1" noChangeArrowheads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733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7EDBD74F-0832-B44F-8219-FE4021026A36}"/>
              </a:ext>
            </a:extLst>
          </p:cNvPr>
          <p:cNvSpPr/>
          <p:nvPr/>
        </p:nvSpPr>
        <p:spPr>
          <a:xfrm>
            <a:off x="6400800" y="5568156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5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72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40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11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565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>
            <a:extLst>
              <a:ext uri="{FF2B5EF4-FFF2-40B4-BE49-F238E27FC236}">
                <a16:creationId xmlns:a16="http://schemas.microsoft.com/office/drawing/2014/main" id="{4A0BD39A-FDAC-6844-A166-0DCCB27DB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堵车</a:t>
            </a:r>
            <a:r>
              <a:rPr kumimoji="1" lang="en-US" altLang="zh-CN"/>
              <a:t> dǔchē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109836-F2FF-5144-A4F6-624DD6D2B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64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VERB</a:t>
            </a:r>
            <a:r>
              <a:rPr lang="zh-CN" altLang="en-US" sz="2000" dirty="0">
                <a:solidFill>
                  <a:srgbClr val="000000"/>
                </a:solidFill>
              </a:rPr>
              <a:t>  </a:t>
            </a:r>
            <a:r>
              <a:rPr lang="en" altLang="zh-CN" sz="2000" dirty="0">
                <a:solidFill>
                  <a:srgbClr val="000000"/>
                </a:solidFill>
              </a:rPr>
              <a:t>traffic jam; heavy traffic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经常（三级） 堵车</a:t>
            </a:r>
            <a:r>
              <a:rPr lang="en-US" altLang="zh-CN" sz="2000" dirty="0">
                <a:solidFill>
                  <a:srgbClr val="000000"/>
                </a:solidFill>
              </a:rPr>
              <a:t>  frequent traffic jams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又（三级） 堵车</a:t>
            </a:r>
            <a:r>
              <a:rPr lang="en-US" altLang="zh-CN" sz="2000" dirty="0">
                <a:solidFill>
                  <a:srgbClr val="000000"/>
                </a:solidFill>
              </a:rPr>
              <a:t>  traffic jam again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王静：那个时间路上堵车多严重啊，你还是坐地铁去机场吧。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王静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wángjìng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：  </a:t>
            </a:r>
            <a:r>
              <a:rPr kumimoji="1" lang="zh-CN" altLang="en-US" sz="2000" dirty="0"/>
              <a:t>那个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nàge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时间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shíjiān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路上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lùshang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堵车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dǔchē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多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duō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严重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yánzhòng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啊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a  </a:t>
            </a:r>
            <a:r>
              <a:rPr kumimoji="1" lang="zh-CN" altLang="en" sz="2000" dirty="0"/>
              <a:t>，  </a:t>
            </a:r>
            <a:r>
              <a:rPr kumimoji="1" lang="zh-CN" altLang="en-US" sz="2000" dirty="0"/>
              <a:t>你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nǐ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还是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háishi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坐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zuò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地铁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dìtiě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去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qù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机场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jīchǎng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吧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ba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Wang Jing: At that time, the traffic jam on the road was serious. You should take the subway to the airport.</a:t>
            </a:r>
            <a:endParaRPr kumimoji="1" lang="zh-CN" altLang="en-US" sz="2000" dirty="0"/>
          </a:p>
        </p:txBody>
      </p:sp>
      <p:pic>
        <p:nvPicPr>
          <p:cNvPr id="2" name="堵车.wav" descr="堵车.wav">
            <a:hlinkClick r:id="" action="ppaction://media"/>
            <a:extLst>
              <a:ext uri="{FF2B5EF4-FFF2-40B4-BE49-F238E27FC236}">
                <a16:creationId xmlns:a16="http://schemas.microsoft.com/office/drawing/2014/main" id="{7D2A5546-CCB0-F84F-B7B7-1F7C8D2C159D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81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经常堵车.wav" descr="经常堵车.wav">
            <a:hlinkClick r:id="" action="ppaction://media"/>
            <a:extLst>
              <a:ext uri="{FF2B5EF4-FFF2-40B4-BE49-F238E27FC236}">
                <a16:creationId xmlns:a16="http://schemas.microsoft.com/office/drawing/2014/main" id="{4A3111EC-CBAC-AE4F-9C9A-A596E9699DDC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338" y="1828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又堵车.wav" descr="又堵车.wav">
            <a:hlinkClick r:id="" action="ppaction://media"/>
            <a:extLst>
              <a:ext uri="{FF2B5EF4-FFF2-40B4-BE49-F238E27FC236}">
                <a16:creationId xmlns:a16="http://schemas.microsoft.com/office/drawing/2014/main" id="{700638C1-085B-544A-9901-FC293B6852AD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500" y="2336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王静：那个时间路上堵车多严重啊，你还是坐地铁去机场吧。.wav" descr="王静：那个时间路上堵车多严重啊，你还是坐地铁去机场吧。.wav">
            <a:hlinkClick r:id="" action="ppaction://media"/>
            <a:extLst>
              <a:ext uri="{FF2B5EF4-FFF2-40B4-BE49-F238E27FC236}">
                <a16:creationId xmlns:a16="http://schemas.microsoft.com/office/drawing/2014/main" id="{A0FED06E-BA75-624D-A549-64FD6C10FDBC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048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4F767AF4-3A60-FA47-93CE-203F86A0DDF5}"/>
              </a:ext>
            </a:extLst>
          </p:cNvPr>
          <p:cNvSpPr/>
          <p:nvPr/>
        </p:nvSpPr>
        <p:spPr>
          <a:xfrm>
            <a:off x="6400800" y="5121461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622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40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11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565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>
            <a:extLst>
              <a:ext uri="{FF2B5EF4-FFF2-40B4-BE49-F238E27FC236}">
                <a16:creationId xmlns:a16="http://schemas.microsoft.com/office/drawing/2014/main" id="{4A0BD39A-FDAC-6844-A166-0DCCB27DB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堵车</a:t>
            </a:r>
            <a:r>
              <a:rPr kumimoji="1" lang="en-US" altLang="zh-CN"/>
              <a:t> dǔchē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109836-F2FF-5144-A4F6-624DD6D2B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64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经常（三级） 堵车</a:t>
            </a:r>
            <a:r>
              <a:rPr lang="en-US" altLang="zh-CN" sz="2000" dirty="0">
                <a:solidFill>
                  <a:srgbClr val="000000"/>
                </a:solidFill>
              </a:rPr>
              <a:t>  frequent traffic jams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又（三级） 堵车</a:t>
            </a:r>
            <a:r>
              <a:rPr lang="en-US" altLang="zh-CN" sz="2000" dirty="0">
                <a:solidFill>
                  <a:srgbClr val="000000"/>
                </a:solidFill>
              </a:rPr>
              <a:t>  traffic jam again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王静：那个时间路上堵车多严重啊，你还是坐地铁去机场吧。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王静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wángjìng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：  </a:t>
            </a:r>
            <a:r>
              <a:rPr kumimoji="1" lang="zh-CN" altLang="en-US" sz="2000" dirty="0"/>
              <a:t>那个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nàge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时间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shíjiān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路上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lùshang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堵车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dǔchē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多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duō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严重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yánzhòng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啊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a  </a:t>
            </a:r>
            <a:r>
              <a:rPr kumimoji="1" lang="zh-CN" altLang="en" sz="2000" dirty="0"/>
              <a:t>，  </a:t>
            </a:r>
            <a:r>
              <a:rPr kumimoji="1" lang="zh-CN" altLang="en-US" sz="2000" dirty="0"/>
              <a:t>你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nǐ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还是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háishi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坐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zuò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地铁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dìtiě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去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qù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机场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jīchǎng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吧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ba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Wang Jing: At that time, the traffic jam on the road was serious. You should take the subway to the airport.</a:t>
            </a:r>
            <a:endParaRPr kumimoji="1" lang="zh-CN" altLang="en-US" sz="2000" dirty="0"/>
          </a:p>
        </p:txBody>
      </p:sp>
      <p:pic>
        <p:nvPicPr>
          <p:cNvPr id="2" name="堵车.wav" descr="堵车.wav">
            <a:hlinkClick r:id="" action="ppaction://media"/>
            <a:extLst>
              <a:ext uri="{FF2B5EF4-FFF2-40B4-BE49-F238E27FC236}">
                <a16:creationId xmlns:a16="http://schemas.microsoft.com/office/drawing/2014/main" id="{7D2A5546-CCB0-F84F-B7B7-1F7C8D2C159D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81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经常堵车.wav" descr="经常堵车.wav">
            <a:hlinkClick r:id="" action="ppaction://media"/>
            <a:extLst>
              <a:ext uri="{FF2B5EF4-FFF2-40B4-BE49-F238E27FC236}">
                <a16:creationId xmlns:a16="http://schemas.microsoft.com/office/drawing/2014/main" id="{4A3111EC-CBAC-AE4F-9C9A-A596E9699DDC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338" y="1447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又堵车.wav" descr="又堵车.wav">
            <a:hlinkClick r:id="" action="ppaction://media"/>
            <a:extLst>
              <a:ext uri="{FF2B5EF4-FFF2-40B4-BE49-F238E27FC236}">
                <a16:creationId xmlns:a16="http://schemas.microsoft.com/office/drawing/2014/main" id="{700638C1-085B-544A-9901-FC293B6852AD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500" y="19558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王静：那个时间路上堵车多严重啊，你还是坐地铁去机场吧。.wav" descr="王静：那个时间路上堵车多严重啊，你还是坐地铁去机场吧。.wav">
            <a:hlinkClick r:id="" action="ppaction://media"/>
            <a:extLst>
              <a:ext uri="{FF2B5EF4-FFF2-40B4-BE49-F238E27FC236}">
                <a16:creationId xmlns:a16="http://schemas.microsoft.com/office/drawing/2014/main" id="{A0FED06E-BA75-624D-A549-64FD6C10FDBC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667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F47DC295-8BA0-0E45-9510-F9DA65EBB551}"/>
              </a:ext>
            </a:extLst>
          </p:cNvPr>
          <p:cNvSpPr/>
          <p:nvPr/>
        </p:nvSpPr>
        <p:spPr>
          <a:xfrm>
            <a:off x="6096000" y="5181600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526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40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11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565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>
            <a:extLst>
              <a:ext uri="{FF2B5EF4-FFF2-40B4-BE49-F238E27FC236}">
                <a16:creationId xmlns:a16="http://schemas.microsoft.com/office/drawing/2014/main" id="{4A0BD39A-FDAC-6844-A166-0DCCB27DB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堵车</a:t>
            </a:r>
            <a:r>
              <a:rPr kumimoji="1" lang="en-US" altLang="zh-CN"/>
              <a:t> dǔchē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109836-F2FF-5144-A4F6-624DD6D2B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648200"/>
          </a:xfrm>
        </p:spPr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王静：那个时间路上堵车多严重啊，你还是坐地铁去机场吧。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王静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wángjìng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：  </a:t>
            </a:r>
            <a:r>
              <a:rPr kumimoji="1" lang="zh-CN" altLang="en-US" sz="2000" dirty="0"/>
              <a:t>那个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nàge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时间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shíjiān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路上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lùshang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堵车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dǔchē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多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duō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严重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yánzhòng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啊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a  </a:t>
            </a:r>
            <a:r>
              <a:rPr kumimoji="1" lang="zh-CN" altLang="en" sz="2000" dirty="0"/>
              <a:t>，  </a:t>
            </a:r>
            <a:r>
              <a:rPr kumimoji="1" lang="zh-CN" altLang="en-US" sz="2000" dirty="0"/>
              <a:t>你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nǐ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还是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háishi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坐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zuò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地铁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dìtiě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去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qù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机场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jīchǎng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吧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ba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Wang Jing: At that time, the traffic jam on the road was serious. You should take the subway to the airport.</a:t>
            </a:r>
            <a:endParaRPr kumimoji="1" lang="zh-CN" altLang="en-US" sz="2000" dirty="0"/>
          </a:p>
        </p:txBody>
      </p:sp>
      <p:pic>
        <p:nvPicPr>
          <p:cNvPr id="2" name="堵车.wav" descr="堵车.wav">
            <a:hlinkClick r:id="" action="ppaction://media"/>
            <a:extLst>
              <a:ext uri="{FF2B5EF4-FFF2-40B4-BE49-F238E27FC236}">
                <a16:creationId xmlns:a16="http://schemas.microsoft.com/office/drawing/2014/main" id="{7D2A5546-CCB0-F84F-B7B7-1F7C8D2C159D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81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王静：那个时间路上堵车多严重啊，你还是坐地铁去机场吧。.wav" descr="王静：那个时间路上堵车多严重啊，你还是坐地铁去机场吧。.wav">
            <a:hlinkClick r:id="" action="ppaction://media"/>
            <a:extLst>
              <a:ext uri="{FF2B5EF4-FFF2-40B4-BE49-F238E27FC236}">
                <a16:creationId xmlns:a16="http://schemas.microsoft.com/office/drawing/2014/main" id="{A0FED06E-BA75-624D-A549-64FD6C10FDBC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524000"/>
            <a:ext cx="53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60F1445A-C2BD-7645-8467-F6CDC7590E6D}"/>
              </a:ext>
            </a:extLst>
          </p:cNvPr>
          <p:cNvSpPr/>
          <p:nvPr/>
        </p:nvSpPr>
        <p:spPr>
          <a:xfrm>
            <a:off x="6096000" y="5181600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083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65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标题 1">
            <a:extLst>
              <a:ext uri="{FF2B5EF4-FFF2-40B4-BE49-F238E27FC236}">
                <a16:creationId xmlns:a16="http://schemas.microsoft.com/office/drawing/2014/main" id="{EB7D5435-9FE4-1F48-8B89-A1A2366807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35E4D9-D439-ED47-ADAA-55ABE6355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" altLang="zh-CN" sz="2000" dirty="0">
                <a:solidFill>
                  <a:srgbClr val="000000"/>
                </a:solidFill>
              </a:rPr>
              <a:t>traffic jam; heavy traffic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endParaRPr lang="en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多么  </a:t>
            </a:r>
            <a:r>
              <a:rPr lang="en" altLang="zh-CN" sz="2000" dirty="0"/>
              <a:t>B.</a:t>
            </a:r>
            <a:r>
              <a:rPr lang="zh-CN" altLang="en-US" sz="2000" dirty="0"/>
              <a:t>堵车  </a:t>
            </a:r>
            <a:r>
              <a:rPr lang="en" altLang="zh-CN" sz="2000" dirty="0"/>
              <a:t>C.</a:t>
            </a:r>
            <a:r>
              <a:rPr lang="zh-CN" altLang="en-US" sz="2000" dirty="0"/>
              <a:t>班  </a:t>
            </a:r>
            <a:r>
              <a:rPr lang="en" altLang="zh-CN" sz="2000" dirty="0"/>
              <a:t>D.</a:t>
            </a:r>
            <a:r>
              <a:rPr lang="zh-CN" altLang="en-US" sz="2000" dirty="0"/>
              <a:t>绿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经常（）  </a:t>
            </a:r>
            <a:r>
              <a:rPr lang="en" altLang="zh-CN" sz="2000" dirty="0"/>
              <a:t>A.</a:t>
            </a:r>
            <a:r>
              <a:rPr lang="zh-CN" altLang="en-US" sz="2000" dirty="0"/>
              <a:t>刻   </a:t>
            </a:r>
            <a:r>
              <a:rPr lang="en" altLang="zh-CN" sz="2000" dirty="0"/>
              <a:t>B.</a:t>
            </a:r>
            <a:r>
              <a:rPr lang="zh-CN" altLang="en-US" sz="2000" dirty="0"/>
              <a:t>新鲜  </a:t>
            </a:r>
            <a:r>
              <a:rPr lang="en" altLang="zh-CN" sz="2000" dirty="0"/>
              <a:t>C.</a:t>
            </a:r>
            <a:r>
              <a:rPr lang="zh-CN" altLang="en-US" sz="2000" dirty="0"/>
              <a:t>堵车  </a:t>
            </a:r>
            <a:r>
              <a:rPr lang="en" altLang="zh-CN" sz="2000" dirty="0"/>
              <a:t>D.</a:t>
            </a:r>
            <a:r>
              <a:rPr lang="zh-CN" altLang="en-US" sz="2000" dirty="0"/>
              <a:t>地图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	</a:t>
            </a:r>
            <a:r>
              <a:rPr lang="zh-CN" altLang="en-US" sz="2000" dirty="0"/>
              <a:t>          </a:t>
            </a:r>
            <a:r>
              <a:rPr lang="en-US" altLang="zh-CN" sz="2000" dirty="0"/>
              <a:t>c__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王静：那个时间路上堵（）多严重啊，你还是坐地铁去机场吧。</a:t>
            </a: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F95773DF-501B-D947-B7BF-41296DB183DC}"/>
              </a:ext>
            </a:extLst>
          </p:cNvPr>
          <p:cNvSpPr/>
          <p:nvPr/>
        </p:nvSpPr>
        <p:spPr>
          <a:xfrm>
            <a:off x="6096000" y="5181600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21262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07292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语法？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meaning, but I don’t know its collocations.</a:t>
            </a:r>
          </a:p>
          <a:p>
            <a:pPr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F760C6-CAEF-4949-AB75-58AD9F2FC2D8}"/>
              </a:ext>
            </a:extLst>
          </p:cNvPr>
          <p:cNvSpPr/>
          <p:nvPr/>
        </p:nvSpPr>
        <p:spPr>
          <a:xfrm>
            <a:off x="6781800" y="3124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C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4343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46482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5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32651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>
            <a:extLst>
              <a:ext uri="{FF2B5EF4-FFF2-40B4-BE49-F238E27FC236}">
                <a16:creationId xmlns:a16="http://schemas.microsoft.com/office/drawing/2014/main" id="{4DBC910F-7F04-3E43-A9A8-CE8DD466E9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语法 </a:t>
            </a:r>
            <a:r>
              <a:rPr kumimoji="1" lang="zh-CN" altLang="zh-CN"/>
              <a:t>yǔfǎ </a:t>
            </a:r>
            <a:r>
              <a:rPr kumimoji="1" lang="zh-CN" altLang="en-US"/>
              <a:t> 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0A3713-B30B-5140-8385-5D21E369C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语 </a:t>
            </a:r>
            <a:r>
              <a:rPr lang="en" altLang="zh-CN" sz="2000" dirty="0" err="1">
                <a:solidFill>
                  <a:srgbClr val="000000"/>
                </a:solidFill>
              </a:rPr>
              <a:t>yǔ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NOUN</a:t>
            </a:r>
            <a:r>
              <a:rPr lang="zh-CN" altLang="en-US" sz="2000" dirty="0">
                <a:solidFill>
                  <a:srgbClr val="000000"/>
                </a:solidFill>
              </a:rPr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language; tongue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法 </a:t>
            </a:r>
            <a:r>
              <a:rPr lang="en" altLang="zh-CN" sz="2000" dirty="0" err="1">
                <a:solidFill>
                  <a:srgbClr val="000000"/>
                </a:solidFill>
              </a:rPr>
              <a:t>fǎ</a:t>
            </a:r>
            <a:r>
              <a:rPr lang="en" altLang="zh-CN" sz="2000" dirty="0">
                <a:solidFill>
                  <a:srgbClr val="000000"/>
                </a:solidFill>
              </a:rPr>
              <a:t> NOUN law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NOUN</a:t>
            </a:r>
            <a:r>
              <a:rPr lang="zh-CN" altLang="en-US" sz="2000" dirty="0">
                <a:solidFill>
                  <a:srgbClr val="000000"/>
                </a:solidFill>
              </a:rPr>
              <a:t>  </a:t>
            </a:r>
            <a:r>
              <a:rPr lang="en" altLang="zh-CN" sz="2000" dirty="0">
                <a:solidFill>
                  <a:srgbClr val="000000"/>
                </a:solidFill>
              </a:rPr>
              <a:t>grammar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讲（三级） 语法</a:t>
            </a:r>
            <a:r>
              <a:rPr lang="en-US" altLang="zh-CN" sz="2000" dirty="0">
                <a:solidFill>
                  <a:srgbClr val="000000"/>
                </a:solidFill>
              </a:rPr>
              <a:t>  explain grammar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这个句子不符合语法。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这个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zhège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句子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jùzi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不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bù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符合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fúhé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语法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yǔfǎ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This sentence is not grammatical.</a:t>
            </a:r>
            <a:endParaRPr kumimoji="1" lang="zh-CN" altLang="en-US" sz="2000" dirty="0"/>
          </a:p>
        </p:txBody>
      </p:sp>
      <p:pic>
        <p:nvPicPr>
          <p:cNvPr id="2" name="语法.wav" descr="语法.wav">
            <a:hlinkClick r:id="" action="ppaction://media"/>
            <a:extLst>
              <a:ext uri="{FF2B5EF4-FFF2-40B4-BE49-F238E27FC236}">
                <a16:creationId xmlns:a16="http://schemas.microsoft.com/office/drawing/2014/main" id="{F8E7D744-9697-5A4B-B833-CB2DDBAFA980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06400"/>
            <a:ext cx="584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语.wav" descr="语.wav">
            <a:hlinkClick r:id="" action="ppaction://media"/>
            <a:extLst>
              <a:ext uri="{FF2B5EF4-FFF2-40B4-BE49-F238E27FC236}">
                <a16:creationId xmlns:a16="http://schemas.microsoft.com/office/drawing/2014/main" id="{F16579AE-F010-3944-828D-F1B1A1120569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68400"/>
            <a:ext cx="584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法.wav" descr="法.wav">
            <a:hlinkClick r:id="" action="ppaction://media"/>
            <a:extLst>
              <a:ext uri="{FF2B5EF4-FFF2-40B4-BE49-F238E27FC236}">
                <a16:creationId xmlns:a16="http://schemas.microsoft.com/office/drawing/2014/main" id="{5EA75E26-BA59-CD47-80B5-CCC312646ABF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549400"/>
            <a:ext cx="584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讲语法.wav" descr="讲语法.wav">
            <a:hlinkClick r:id="" action="ppaction://media"/>
            <a:extLst>
              <a:ext uri="{FF2B5EF4-FFF2-40B4-BE49-F238E27FC236}">
                <a16:creationId xmlns:a16="http://schemas.microsoft.com/office/drawing/2014/main" id="{00EB232E-5A2C-6940-BA2D-0F6C9AB85C7B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00" y="2616200"/>
            <a:ext cx="584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这个句子不符合语法。.wav" descr="这个句子不符合语法。.wav">
            <a:hlinkClick r:id="" action="ppaction://media"/>
            <a:extLst>
              <a:ext uri="{FF2B5EF4-FFF2-40B4-BE49-F238E27FC236}">
                <a16:creationId xmlns:a16="http://schemas.microsoft.com/office/drawing/2014/main" id="{3959F14E-70AC-3A49-A560-D5DC3F370606}"/>
              </a:ext>
            </a:extLst>
          </p:cNvPr>
          <p:cNvPicPr>
            <a:picLocks noChangeAspect="1" noChangeArrowheads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302000"/>
            <a:ext cx="584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EE596633-4CFE-B745-AE32-5729E7D1437E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3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4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8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216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>
            <a:extLst>
              <a:ext uri="{FF2B5EF4-FFF2-40B4-BE49-F238E27FC236}">
                <a16:creationId xmlns:a16="http://schemas.microsoft.com/office/drawing/2014/main" id="{4DBC910F-7F04-3E43-A9A8-CE8DD466E9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语法 </a:t>
            </a:r>
            <a:r>
              <a:rPr kumimoji="1" lang="zh-CN" altLang="zh-CN"/>
              <a:t>yǔfǎ </a:t>
            </a:r>
            <a:r>
              <a:rPr kumimoji="1" lang="zh-CN" altLang="en-US"/>
              <a:t> 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0A3713-B30B-5140-8385-5D21E369C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NOUN</a:t>
            </a:r>
            <a:r>
              <a:rPr lang="zh-CN" altLang="en-US" sz="2000" dirty="0">
                <a:solidFill>
                  <a:srgbClr val="000000"/>
                </a:solidFill>
              </a:rPr>
              <a:t>  </a:t>
            </a:r>
            <a:r>
              <a:rPr lang="en" altLang="zh-CN" sz="2000" dirty="0">
                <a:solidFill>
                  <a:srgbClr val="000000"/>
                </a:solidFill>
              </a:rPr>
              <a:t>grammar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讲（三级） 语法</a:t>
            </a:r>
            <a:r>
              <a:rPr lang="en-US" altLang="zh-CN" sz="2000" dirty="0">
                <a:solidFill>
                  <a:srgbClr val="000000"/>
                </a:solidFill>
              </a:rPr>
              <a:t>  explain grammar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这个句子不符合语法。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这个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zhège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句子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jùzi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不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bù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符合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fúhé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语法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yǔfǎ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This sentence is not grammatical.</a:t>
            </a:r>
            <a:endParaRPr kumimoji="1" lang="zh-CN" altLang="en-US" sz="2000" dirty="0"/>
          </a:p>
        </p:txBody>
      </p:sp>
      <p:pic>
        <p:nvPicPr>
          <p:cNvPr id="2" name="语法.wav" descr="语法.wav">
            <a:hlinkClick r:id="" action="ppaction://media"/>
            <a:extLst>
              <a:ext uri="{FF2B5EF4-FFF2-40B4-BE49-F238E27FC236}">
                <a16:creationId xmlns:a16="http://schemas.microsoft.com/office/drawing/2014/main" id="{F8E7D744-9697-5A4B-B833-CB2DDBAFA980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06400"/>
            <a:ext cx="584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讲语法.wav" descr="讲语法.wav">
            <a:hlinkClick r:id="" action="ppaction://media"/>
            <a:extLst>
              <a:ext uri="{FF2B5EF4-FFF2-40B4-BE49-F238E27FC236}">
                <a16:creationId xmlns:a16="http://schemas.microsoft.com/office/drawing/2014/main" id="{00EB232E-5A2C-6940-BA2D-0F6C9AB85C7B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00" y="1905000"/>
            <a:ext cx="584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这个句子不符合语法。.wav" descr="这个句子不符合语法。.wav">
            <a:hlinkClick r:id="" action="ppaction://media"/>
            <a:extLst>
              <a:ext uri="{FF2B5EF4-FFF2-40B4-BE49-F238E27FC236}">
                <a16:creationId xmlns:a16="http://schemas.microsoft.com/office/drawing/2014/main" id="{3959F14E-70AC-3A49-A560-D5DC3F370606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590800"/>
            <a:ext cx="584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3743871A-3744-5B4C-B3C5-EFA538E8CC8C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4370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16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>
            <a:extLst>
              <a:ext uri="{FF2B5EF4-FFF2-40B4-BE49-F238E27FC236}">
                <a16:creationId xmlns:a16="http://schemas.microsoft.com/office/drawing/2014/main" id="{4DBC910F-7F04-3E43-A9A8-CE8DD466E9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语法 </a:t>
            </a:r>
            <a:r>
              <a:rPr kumimoji="1" lang="zh-CN" altLang="zh-CN"/>
              <a:t>yǔfǎ </a:t>
            </a:r>
            <a:r>
              <a:rPr kumimoji="1" lang="zh-CN" altLang="en-US"/>
              <a:t> 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0A3713-B30B-5140-8385-5D21E369C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Collocation: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讲（三级） 语法</a:t>
            </a:r>
            <a:r>
              <a:rPr lang="en-US" altLang="zh-CN" sz="2000" dirty="0">
                <a:solidFill>
                  <a:srgbClr val="000000"/>
                </a:solidFill>
              </a:rPr>
              <a:t>  explain grammar</a:t>
            </a: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这个句子不符合语法。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这个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zhège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句子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jùzi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不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bù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符合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fúhé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语法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yǔfǎ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This sentence is not grammatical.</a:t>
            </a:r>
            <a:endParaRPr kumimoji="1" lang="zh-CN" altLang="en-US" sz="2000" dirty="0"/>
          </a:p>
        </p:txBody>
      </p:sp>
      <p:pic>
        <p:nvPicPr>
          <p:cNvPr id="2" name="语法.wav" descr="语法.wav">
            <a:hlinkClick r:id="" action="ppaction://media"/>
            <a:extLst>
              <a:ext uri="{FF2B5EF4-FFF2-40B4-BE49-F238E27FC236}">
                <a16:creationId xmlns:a16="http://schemas.microsoft.com/office/drawing/2014/main" id="{F8E7D744-9697-5A4B-B833-CB2DDBAFA980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06400"/>
            <a:ext cx="584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讲语法.wav" descr="讲语法.wav">
            <a:hlinkClick r:id="" action="ppaction://media"/>
            <a:extLst>
              <a:ext uri="{FF2B5EF4-FFF2-40B4-BE49-F238E27FC236}">
                <a16:creationId xmlns:a16="http://schemas.microsoft.com/office/drawing/2014/main" id="{00EB232E-5A2C-6940-BA2D-0F6C9AB85C7B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00" y="1524000"/>
            <a:ext cx="584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这个句子不符合语法。.wav" descr="这个句子不符合语法。.wav">
            <a:hlinkClick r:id="" action="ppaction://media"/>
            <a:extLst>
              <a:ext uri="{FF2B5EF4-FFF2-40B4-BE49-F238E27FC236}">
                <a16:creationId xmlns:a16="http://schemas.microsoft.com/office/drawing/2014/main" id="{3959F14E-70AC-3A49-A560-D5DC3F370606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209800"/>
            <a:ext cx="584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9FC0ABAC-94F9-A944-8E5F-68AC6EAF57C3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9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5832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16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>
            <a:extLst>
              <a:ext uri="{FF2B5EF4-FFF2-40B4-BE49-F238E27FC236}">
                <a16:creationId xmlns:a16="http://schemas.microsoft.com/office/drawing/2014/main" id="{4DBC910F-7F04-3E43-A9A8-CE8DD466E9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语法 </a:t>
            </a:r>
            <a:r>
              <a:rPr kumimoji="1" lang="zh-CN" altLang="zh-CN"/>
              <a:t>yǔfǎ </a:t>
            </a:r>
            <a:r>
              <a:rPr kumimoji="1" lang="zh-CN" altLang="en-US"/>
              <a:t> 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0A3713-B30B-5140-8385-5D21E369C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这个句子不符合语法。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这个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zhège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句子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jùzi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不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bù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符合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fúhé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语法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yǔfǎ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This sentence is not grammatical.</a:t>
            </a:r>
            <a:endParaRPr kumimoji="1" lang="zh-CN" altLang="en-US" sz="2000" dirty="0"/>
          </a:p>
        </p:txBody>
      </p:sp>
      <p:pic>
        <p:nvPicPr>
          <p:cNvPr id="2" name="语法.wav" descr="语法.wav">
            <a:hlinkClick r:id="" action="ppaction://media"/>
            <a:extLst>
              <a:ext uri="{FF2B5EF4-FFF2-40B4-BE49-F238E27FC236}">
                <a16:creationId xmlns:a16="http://schemas.microsoft.com/office/drawing/2014/main" id="{F8E7D744-9697-5A4B-B833-CB2DDBAFA980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06400"/>
            <a:ext cx="584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这个句子不符合语法。.wav" descr="这个句子不符合语法。.wav">
            <a:hlinkClick r:id="" action="ppaction://media"/>
            <a:extLst>
              <a:ext uri="{FF2B5EF4-FFF2-40B4-BE49-F238E27FC236}">
                <a16:creationId xmlns:a16="http://schemas.microsoft.com/office/drawing/2014/main" id="{3959F14E-70AC-3A49-A560-D5DC3F370606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447800"/>
            <a:ext cx="584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5055F361-E4B9-DD41-BBA9-973527A79D43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468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16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1">
            <a:extLst>
              <a:ext uri="{FF2B5EF4-FFF2-40B4-BE49-F238E27FC236}">
                <a16:creationId xmlns:a16="http://schemas.microsoft.com/office/drawing/2014/main" id="{B1CBBB8F-2716-FA44-A445-A91B0F6021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30BFB5-ED6D-6842-B483-90FE1908D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en" altLang="zh-CN" sz="2000" dirty="0">
                <a:solidFill>
                  <a:srgbClr val="000000"/>
                </a:solidFill>
              </a:rPr>
              <a:t>grammar </a:t>
            </a: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语法  </a:t>
            </a:r>
            <a:r>
              <a:rPr lang="en" altLang="zh-CN" sz="2000" dirty="0"/>
              <a:t>B.</a:t>
            </a:r>
            <a:r>
              <a:rPr lang="zh-CN" altLang="en-US" sz="2000" dirty="0"/>
              <a:t>分钟  </a:t>
            </a:r>
            <a:r>
              <a:rPr lang="en" altLang="zh-CN" sz="2000" dirty="0"/>
              <a:t>C.</a:t>
            </a:r>
            <a:r>
              <a:rPr lang="zh-CN" altLang="en-US" sz="2000" dirty="0"/>
              <a:t>结婚  </a:t>
            </a:r>
            <a:r>
              <a:rPr lang="en" altLang="zh-CN" sz="2000" dirty="0"/>
              <a:t>D.</a:t>
            </a:r>
            <a:r>
              <a:rPr lang="zh-CN" altLang="en-US" sz="2000" dirty="0"/>
              <a:t>词典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right</a:t>
            </a:r>
            <a:r>
              <a:rPr lang="zh-CN" altLang="en-US" sz="2000" dirty="0"/>
              <a:t> </a:t>
            </a:r>
            <a:r>
              <a:rPr lang="en-US" altLang="zh-CN" sz="2000" dirty="0"/>
              <a:t>collocation.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讲（）  </a:t>
            </a:r>
            <a:r>
              <a:rPr lang="en" altLang="zh-CN" sz="2000" dirty="0"/>
              <a:t>A.</a:t>
            </a:r>
            <a:r>
              <a:rPr lang="zh-CN" altLang="en-US" sz="2000" dirty="0"/>
              <a:t>累  </a:t>
            </a:r>
            <a:r>
              <a:rPr lang="en" altLang="zh-CN" sz="2000" dirty="0"/>
              <a:t>B.</a:t>
            </a:r>
            <a:r>
              <a:rPr lang="zh-CN" altLang="en-US" sz="2000" dirty="0"/>
              <a:t>衣服  </a:t>
            </a:r>
            <a:r>
              <a:rPr lang="en" altLang="zh-CN" sz="2000" dirty="0"/>
              <a:t>C.</a:t>
            </a:r>
            <a:r>
              <a:rPr lang="zh-CN" altLang="en-US" sz="2000" dirty="0"/>
              <a:t> 语法  </a:t>
            </a:r>
            <a:r>
              <a:rPr lang="en" altLang="zh-CN" sz="2000" dirty="0"/>
              <a:t>D.</a:t>
            </a:r>
            <a:r>
              <a:rPr lang="zh-CN" altLang="en-US" sz="2000" dirty="0"/>
              <a:t>脚</a:t>
            </a:r>
            <a:endParaRPr lang="en-US" altLang="zh-CN" sz="2000" dirty="0"/>
          </a:p>
          <a:p>
            <a:pPr eaLnBrk="1" hangingPunct="1"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这个句子不符合语（）。</a:t>
            </a: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CEEB35B-3191-C94E-926B-D969AFF7B1E4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End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Next word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09275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ED0817-D27F-B64C-9D40-FB9BCEAC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Start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time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 learning a word </a:t>
            </a:r>
            <a:endParaRPr kumimoji="1" lang="zh-CN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7E894-BBC6-7C41-9939-B130BFD1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Please write down the present time (accurate to the minute) on your paper. __________</a:t>
            </a:r>
          </a:p>
          <a:p>
            <a:endParaRPr kumimoji="1" lang="zh-CN" altLang="en-US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1ADF194-DBE7-8A4C-B5E8-98F40B075572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54469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1">
            <a:extLst>
              <a:ext uri="{FF2B5EF4-FFF2-40B4-BE49-F238E27FC236}">
                <a16:creationId xmlns:a16="http://schemas.microsoft.com/office/drawing/2014/main" id="{06570B87-D7AD-9647-9CE5-37739358B2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7"/>
            <a:ext cx="8229600" cy="1249363"/>
          </a:xfrm>
        </p:spPr>
        <p:txBody>
          <a:bodyPr/>
          <a:lstStyle/>
          <a:p>
            <a:pPr algn="l"/>
            <a:r>
              <a:rPr kumimoji="1" lang="en-US" altLang="zh-CN" sz="2400" dirty="0"/>
              <a:t>How about you know </a:t>
            </a:r>
            <a:r>
              <a:rPr kumimoji="1" lang="zh-CN" altLang="en-US" sz="2400" dirty="0"/>
              <a:t>迷路？</a:t>
            </a:r>
            <a:br>
              <a:rPr kumimoji="1" lang="en-US" altLang="zh-CN" sz="2400" dirty="0"/>
            </a:br>
            <a:r>
              <a:rPr kumimoji="1" lang="en-US" altLang="zh-CN" sz="2400" dirty="0"/>
              <a:t>Please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write down the choice on your page and click the choice to jump to the corresponding page</a:t>
            </a:r>
            <a:endParaRPr kumimoji="1"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0F45E4-88F1-6F47-B1DD-2543870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962399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I have never seen this word.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don’t know what it means. </a:t>
            </a:r>
          </a:p>
          <a:p>
            <a:pPr marL="0" indent="0">
              <a:buNone/>
              <a:defRPr/>
            </a:pPr>
            <a:endParaRPr lang="zh-CN" altLang="zh-CN" sz="2000" dirty="0"/>
          </a:p>
          <a:p>
            <a:pPr>
              <a:defRPr/>
            </a:pPr>
            <a:r>
              <a:rPr lang="en-US" altLang="zh-CN" sz="2000" dirty="0"/>
              <a:t>I know its collocation, but I don’t know how to use it in a sentence.</a:t>
            </a:r>
          </a:p>
          <a:p>
            <a:pPr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sz="2000" dirty="0"/>
              <a:t>I can use it in a sentence. </a:t>
            </a:r>
            <a:endParaRPr lang="zh-CN" altLang="zh-CN" sz="18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106C97-9EF1-AE4E-80B1-861673DC5DA6}"/>
              </a:ext>
            </a:extLst>
          </p:cNvPr>
          <p:cNvSpPr/>
          <p:nvPr/>
        </p:nvSpPr>
        <p:spPr>
          <a:xfrm>
            <a:off x="4191000" y="1752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A</a:t>
            </a:r>
            <a:endParaRPr kumimoji="1" lang="zh-CN" altLang="en-US" dirty="0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6C5558C-2A94-D340-B88D-3771B105CE99}"/>
              </a:ext>
            </a:extLst>
          </p:cNvPr>
          <p:cNvSpPr/>
          <p:nvPr/>
        </p:nvSpPr>
        <p:spPr>
          <a:xfrm>
            <a:off x="7531395" y="3581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3" action="ppaction://hlinksldjump"/>
              </a:rPr>
              <a:t>D</a:t>
            </a:r>
            <a:endParaRPr kumimoji="1" lang="zh-CN" altLang="en-US" dirty="0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418098F-A830-0E4B-AE1B-BF99FBB77185}"/>
              </a:ext>
            </a:extLst>
          </p:cNvPr>
          <p:cNvSpPr/>
          <p:nvPr/>
        </p:nvSpPr>
        <p:spPr>
          <a:xfrm>
            <a:off x="3962400" y="39624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4" action="ppaction://hlinksldjump"/>
              </a:rPr>
              <a:t>E</a:t>
            </a:r>
            <a:endParaRPr kumimoji="1"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5E955882-84DF-F541-BD1E-BB1F7EDDA2DC}"/>
              </a:ext>
            </a:extLst>
          </p:cNvPr>
          <p:cNvSpPr/>
          <p:nvPr/>
        </p:nvSpPr>
        <p:spPr>
          <a:xfrm>
            <a:off x="4191000" y="2514600"/>
            <a:ext cx="7620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solidFill>
                  <a:schemeClr val="accent1">
                    <a:lumMod val="50000"/>
                  </a:schemeClr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</a:t>
            </a:r>
            <a:endParaRPr kumimoji="1"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4137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>
            <a:extLst>
              <a:ext uri="{FF2B5EF4-FFF2-40B4-BE49-F238E27FC236}">
                <a16:creationId xmlns:a16="http://schemas.microsoft.com/office/drawing/2014/main" id="{FD30DD33-292D-F14F-A8A5-7B796B7F49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迷路 </a:t>
            </a:r>
            <a:r>
              <a:rPr kumimoji="1" lang="zh-CN" altLang="zh-CN"/>
              <a:t>mí</a:t>
            </a:r>
            <a:r>
              <a:rPr kumimoji="1" lang="zh-CN" altLang="en-US"/>
              <a:t> </a:t>
            </a:r>
            <a:r>
              <a:rPr kumimoji="1" lang="zh-CN" altLang="zh-CN"/>
              <a:t>lù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A6B8AC-6C07-7B47-90AD-DA8910BDD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迷 </a:t>
            </a:r>
            <a:r>
              <a:rPr kumimoji="1" lang="en" altLang="zh-CN" sz="2000" dirty="0" err="1"/>
              <a:t>mí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VERB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be confused; lose one’s way; lost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000000"/>
                </a:solidFill>
              </a:rPr>
              <a:t>路 </a:t>
            </a:r>
            <a:r>
              <a:rPr kumimoji="1" lang="en" altLang="zh-CN" sz="2000" dirty="0" err="1"/>
              <a:t>lù</a:t>
            </a:r>
            <a:r>
              <a:rPr kumimoji="1" lang="en" altLang="zh-CN" sz="2000" dirty="0"/>
              <a:t> NOUN road; path; way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VERB   lose one's way; get lost</a:t>
            </a:r>
            <a:endParaRPr lang="en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那时我发现，自己一定是迷路了。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那时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nàshí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wǒ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发现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fāxiàn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，  </a:t>
            </a:r>
            <a:r>
              <a:rPr kumimoji="1" lang="zh-CN" altLang="en-US" sz="2000" dirty="0"/>
              <a:t>自己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zìjǐ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一定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yīdìng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是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shì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迷路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mílù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le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I realized then that I must be lost.</a:t>
            </a:r>
            <a:endParaRPr kumimoji="1" lang="zh-CN" altLang="en-US" sz="2000" dirty="0"/>
          </a:p>
        </p:txBody>
      </p:sp>
      <p:pic>
        <p:nvPicPr>
          <p:cNvPr id="2" name="迷路.wav" descr="迷路.wav">
            <a:hlinkClick r:id="" action="ppaction://media"/>
            <a:extLst>
              <a:ext uri="{FF2B5EF4-FFF2-40B4-BE49-F238E27FC236}">
                <a16:creationId xmlns:a16="http://schemas.microsoft.com/office/drawing/2014/main" id="{1F27FF79-8530-764E-85ED-3DB95867E16C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30213"/>
            <a:ext cx="484188" cy="48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迷.wav" descr="迷.wav">
            <a:hlinkClick r:id="" action="ppaction://media"/>
            <a:extLst>
              <a:ext uri="{FF2B5EF4-FFF2-40B4-BE49-F238E27FC236}">
                <a16:creationId xmlns:a16="http://schemas.microsoft.com/office/drawing/2014/main" id="{8AD8491B-3FCB-B146-9B4F-F3E73B7D6F0B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192213"/>
            <a:ext cx="484188" cy="48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路.wav" descr="路.wav">
            <a:hlinkClick r:id="" action="ppaction://media"/>
            <a:extLst>
              <a:ext uri="{FF2B5EF4-FFF2-40B4-BE49-F238E27FC236}">
                <a16:creationId xmlns:a16="http://schemas.microsoft.com/office/drawing/2014/main" id="{D443E511-9CA0-3F44-934B-FE07E40249DA}"/>
              </a:ext>
            </a:extLst>
          </p:cNvPr>
          <p:cNvPicPr>
            <a:picLocks noChangeAspect="1" noChangeArrowheads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400" y="1573213"/>
            <a:ext cx="484188" cy="48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那时我发现，自己一定是迷路了。.wav" descr="那时我发现，自己一定是迷路了。.wav">
            <a:hlinkClick r:id="" action="ppaction://media"/>
            <a:extLst>
              <a:ext uri="{FF2B5EF4-FFF2-40B4-BE49-F238E27FC236}">
                <a16:creationId xmlns:a16="http://schemas.microsoft.com/office/drawing/2014/main" id="{8CB89A59-AC7A-CE44-91AE-3A3147594B6B}"/>
              </a:ext>
            </a:extLst>
          </p:cNvPr>
          <p:cNvPicPr>
            <a:picLocks noChangeAspect="1" noChangeArrowheads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6413" y="2640013"/>
            <a:ext cx="484187" cy="48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DF87FD21-21E2-6349-8E48-A830A80AEC10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11" action="ppaction://hlinksldjump"/>
              </a:rPr>
              <a:t>Click to the next page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64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38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>
            <a:extLst>
              <a:ext uri="{FF2B5EF4-FFF2-40B4-BE49-F238E27FC236}">
                <a16:creationId xmlns:a16="http://schemas.microsoft.com/office/drawing/2014/main" id="{FD30DD33-292D-F14F-A8A5-7B796B7F49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迷路 </a:t>
            </a:r>
            <a:r>
              <a:rPr kumimoji="1" lang="zh-CN" altLang="zh-CN"/>
              <a:t>mí</a:t>
            </a:r>
            <a:r>
              <a:rPr kumimoji="1" lang="zh-CN" altLang="en-US"/>
              <a:t> </a:t>
            </a:r>
            <a:r>
              <a:rPr kumimoji="1" lang="zh-CN" altLang="zh-CN"/>
              <a:t>lù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A6B8AC-6C07-7B47-90AD-DA8910BDD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VERB   lose one's way; get lost</a:t>
            </a:r>
            <a:endParaRPr lang="en" altLang="zh-CN" sz="200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那时我发现，自己一定是迷路了。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那时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nàshí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wǒ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发现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fāxiàn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，  </a:t>
            </a:r>
            <a:r>
              <a:rPr kumimoji="1" lang="zh-CN" altLang="en-US" sz="2000" dirty="0"/>
              <a:t>自己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zìjǐ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一定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yīdìng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是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shì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迷路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mílù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le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I realized then that I must be lost.</a:t>
            </a:r>
            <a:endParaRPr kumimoji="1" lang="zh-CN" altLang="en-US" sz="2000" dirty="0"/>
          </a:p>
        </p:txBody>
      </p:sp>
      <p:pic>
        <p:nvPicPr>
          <p:cNvPr id="2" name="迷路.wav" descr="迷路.wav">
            <a:hlinkClick r:id="" action="ppaction://media"/>
            <a:extLst>
              <a:ext uri="{FF2B5EF4-FFF2-40B4-BE49-F238E27FC236}">
                <a16:creationId xmlns:a16="http://schemas.microsoft.com/office/drawing/2014/main" id="{1F27FF79-8530-764E-85ED-3DB95867E16C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30213"/>
            <a:ext cx="484188" cy="48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那时我发现，自己一定是迷路了。.wav" descr="那时我发现，自己一定是迷路了。.wav">
            <a:hlinkClick r:id="" action="ppaction://media"/>
            <a:extLst>
              <a:ext uri="{FF2B5EF4-FFF2-40B4-BE49-F238E27FC236}">
                <a16:creationId xmlns:a16="http://schemas.microsoft.com/office/drawing/2014/main" id="{8CB89A59-AC7A-CE44-91AE-3A3147594B6B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6413" y="2640013"/>
            <a:ext cx="484187" cy="48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8CA9A9B2-B722-DA42-8509-FA16EA558629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8581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38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>
            <a:extLst>
              <a:ext uri="{FF2B5EF4-FFF2-40B4-BE49-F238E27FC236}">
                <a16:creationId xmlns:a16="http://schemas.microsoft.com/office/drawing/2014/main" id="{FD30DD33-292D-F14F-A8A5-7B796B7F49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/>
              <a:t>迷路 </a:t>
            </a:r>
            <a:r>
              <a:rPr kumimoji="1" lang="zh-CN" altLang="zh-CN"/>
              <a:t>mí</a:t>
            </a:r>
            <a:r>
              <a:rPr kumimoji="1" lang="zh-CN" altLang="en-US"/>
              <a:t> </a:t>
            </a:r>
            <a:r>
              <a:rPr kumimoji="1" lang="zh-CN" altLang="zh-CN"/>
              <a:t>lù 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A6B8AC-6C07-7B47-90AD-DA8910BDD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Sentence: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那时我发现，自己一定是迷路了。</a:t>
            </a:r>
            <a:endParaRPr kumimoji="1"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/>
              <a:t>那时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nàshí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我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wǒ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发现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fāxiàn</a:t>
            </a:r>
            <a:r>
              <a:rPr kumimoji="1" lang="en" altLang="zh-CN" sz="2000" dirty="0"/>
              <a:t>  </a:t>
            </a:r>
            <a:r>
              <a:rPr kumimoji="1" lang="zh-CN" altLang="en" sz="2000" dirty="0"/>
              <a:t>，  </a:t>
            </a:r>
            <a:r>
              <a:rPr kumimoji="1" lang="zh-CN" altLang="en-US" sz="2000" dirty="0"/>
              <a:t>自己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zìjǐ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一定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yīdìng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是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shì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迷路</a:t>
            </a:r>
            <a:r>
              <a:rPr kumimoji="1" lang="en-US" altLang="zh-CN" sz="2000" dirty="0"/>
              <a:t>/</a:t>
            </a:r>
            <a:r>
              <a:rPr kumimoji="1" lang="en" altLang="zh-CN" sz="2000" dirty="0" err="1"/>
              <a:t>mílù</a:t>
            </a:r>
            <a:r>
              <a:rPr kumimoji="1" lang="en" altLang="zh-CN" sz="2000" dirty="0"/>
              <a:t>  </a:t>
            </a:r>
            <a:r>
              <a:rPr kumimoji="1" lang="zh-CN" altLang="en-US" sz="2000" dirty="0"/>
              <a:t>了</a:t>
            </a:r>
            <a:r>
              <a:rPr kumimoji="1" lang="en-US" altLang="zh-CN" sz="2000" dirty="0"/>
              <a:t>/</a:t>
            </a:r>
            <a:r>
              <a:rPr kumimoji="1" lang="en" altLang="zh-CN" sz="2000" dirty="0"/>
              <a:t>le  </a:t>
            </a:r>
            <a:r>
              <a:rPr kumimoji="1" lang="zh-CN" altLang="en" sz="2000" dirty="0"/>
              <a:t>。 </a:t>
            </a:r>
            <a:endParaRPr kumimoji="1"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kumimoji="1" lang="en" altLang="zh-CN" sz="2000" dirty="0"/>
              <a:t>I realized then that I must be lost.</a:t>
            </a:r>
            <a:endParaRPr kumimoji="1" lang="zh-CN" altLang="en-US" sz="2000" dirty="0"/>
          </a:p>
        </p:txBody>
      </p:sp>
      <p:pic>
        <p:nvPicPr>
          <p:cNvPr id="2" name="迷路.wav" descr="迷路.wav">
            <a:hlinkClick r:id="" action="ppaction://media"/>
            <a:extLst>
              <a:ext uri="{FF2B5EF4-FFF2-40B4-BE49-F238E27FC236}">
                <a16:creationId xmlns:a16="http://schemas.microsoft.com/office/drawing/2014/main" id="{1F27FF79-8530-764E-85ED-3DB95867E16C}"/>
              </a:ext>
            </a:extLst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30213"/>
            <a:ext cx="484188" cy="48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那时我发现，自己一定是迷路了。.wav" descr="那时我发现，自己一定是迷路了。.wav">
            <a:hlinkClick r:id="" action="ppaction://media"/>
            <a:extLst>
              <a:ext uri="{FF2B5EF4-FFF2-40B4-BE49-F238E27FC236}">
                <a16:creationId xmlns:a16="http://schemas.microsoft.com/office/drawing/2014/main" id="{8CB89A59-AC7A-CE44-91AE-3A3147594B6B}"/>
              </a:ext>
            </a:extLst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6413" y="2640013"/>
            <a:ext cx="484187" cy="48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BC5A20C7-FCFB-8B43-9616-23151E8A8955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7" action="ppaction://hlinksldjump"/>
              </a:rPr>
              <a:t>Click to the next page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4754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38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>
            <a:extLst>
              <a:ext uri="{FF2B5EF4-FFF2-40B4-BE49-F238E27FC236}">
                <a16:creationId xmlns:a16="http://schemas.microsoft.com/office/drawing/2014/main" id="{4CCD9CD1-6AA5-1C40-B23E-B4BC5054FF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en-US" altLang="zh-CN"/>
              <a:t>practice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F4E0FC-79DC-0B4F-A4C2-C69E03A84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eaLnBrk="1" hangingPunct="1">
              <a:buFontTx/>
              <a:buAutoNum type="arabicPeriod"/>
              <a:defRPr/>
            </a:pPr>
            <a:r>
              <a:rPr lang="en" altLang="zh-CN" sz="2000" dirty="0"/>
              <a:t>Find</a:t>
            </a:r>
            <a:r>
              <a:rPr lang="zh-CN" altLang="en-US" sz="2000" dirty="0"/>
              <a:t> </a:t>
            </a:r>
            <a:r>
              <a:rPr lang="en-US" altLang="zh-CN" sz="2000" dirty="0"/>
              <a:t>responding</a:t>
            </a:r>
            <a:r>
              <a:rPr lang="zh-CN" altLang="en-US" sz="2000" dirty="0"/>
              <a:t> </a:t>
            </a:r>
            <a:r>
              <a:rPr lang="en" altLang="zh-CN" sz="2000" dirty="0"/>
              <a:t>word. 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en-US" sz="2000" dirty="0"/>
              <a:t>（）</a:t>
            </a:r>
            <a:r>
              <a:rPr lang="en-US" altLang="zh-CN" sz="2000" dirty="0">
                <a:solidFill>
                  <a:srgbClr val="000000"/>
                </a:solidFill>
              </a:rPr>
              <a:t> lose one's way; get lost</a:t>
            </a:r>
            <a:endParaRPr lang="en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" altLang="zh-CN" sz="2000" dirty="0"/>
              <a:t>A.</a:t>
            </a:r>
            <a:r>
              <a:rPr lang="zh-CN" altLang="en-US" sz="2000" dirty="0"/>
              <a:t>热   </a:t>
            </a:r>
            <a:r>
              <a:rPr lang="en" altLang="zh-CN" sz="2000" dirty="0"/>
              <a:t>B.</a:t>
            </a:r>
            <a:r>
              <a:rPr lang="zh-CN" altLang="en-US" sz="2000" dirty="0"/>
              <a:t>五   </a:t>
            </a:r>
            <a:r>
              <a:rPr lang="en" altLang="zh-CN" sz="2000" dirty="0"/>
              <a:t>C.</a:t>
            </a:r>
            <a:r>
              <a:rPr lang="zh-CN" altLang="en-US" sz="2000" dirty="0"/>
              <a:t>迷路   </a:t>
            </a:r>
            <a:r>
              <a:rPr lang="en" altLang="zh-CN" sz="2000" dirty="0"/>
              <a:t>D.</a:t>
            </a:r>
            <a:r>
              <a:rPr lang="zh-CN" altLang="en-US" sz="2000" dirty="0"/>
              <a:t>作业</a:t>
            </a: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endParaRPr lang="en-US" altLang="zh-CN" sz="2000" dirty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en-US" altLang="zh-CN" sz="2000" dirty="0"/>
              <a:t>Fill</a:t>
            </a:r>
            <a:r>
              <a:rPr lang="zh-CN" altLang="en-US" sz="2000" dirty="0"/>
              <a:t> </a:t>
            </a:r>
            <a:r>
              <a:rPr lang="en-US" altLang="zh-CN" sz="2000" dirty="0"/>
              <a:t>in right word.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zh-CN" sz="2000" dirty="0"/>
              <a:t>			</a:t>
            </a:r>
            <a:r>
              <a:rPr lang="zh-CN" altLang="en-US" sz="2000" dirty="0"/>
              <a:t>    </a:t>
            </a:r>
            <a:r>
              <a:rPr lang="en-US" altLang="zh-CN" sz="2000" dirty="0"/>
              <a:t>l__</a:t>
            </a:r>
          </a:p>
          <a:p>
            <a:pPr marL="0" indent="0" eaLnBrk="1" hangingPunct="1">
              <a:buFontTx/>
              <a:buNone/>
              <a:defRPr/>
            </a:pPr>
            <a:r>
              <a:rPr kumimoji="1" lang="zh-CN" altLang="en-US" sz="2000" dirty="0">
                <a:solidFill>
                  <a:srgbClr val="000000"/>
                </a:solidFill>
              </a:rPr>
              <a:t>那时我发现，自己一定是迷（）了。</a:t>
            </a:r>
            <a:endParaRPr kumimoji="1" lang="zh-CN" altLang="en-US" sz="2000" dirty="0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EAAC865-C7BA-FC4A-BDE7-5505CB79A353}"/>
              </a:ext>
            </a:extLst>
          </p:cNvPr>
          <p:cNvSpPr/>
          <p:nvPr/>
        </p:nvSpPr>
        <p:spPr>
          <a:xfrm>
            <a:off x="6346825" y="5097463"/>
            <a:ext cx="2514600" cy="5984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en-US" altLang="zh-CN" dirty="0">
                <a:hlinkClick r:id="rId2" action="ppaction://hlinksldjump"/>
              </a:rPr>
              <a:t>End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正文">
  <a:themeElements>
    <a:clrScheme name="正文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正文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正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正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正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首页">
  <a:themeElements>
    <a:clrScheme name="首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首页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首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首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首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致谢">
  <a:themeElements>
    <a:clrScheme name="致谢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致谢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致谢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致谢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致谢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</TotalTime>
  <Words>2723</Words>
  <Application>Microsoft Macintosh PowerPoint</Application>
  <PresentationFormat>全屏显示(4:3)</PresentationFormat>
  <Paragraphs>368</Paragraphs>
  <Slides>47</Slides>
  <Notes>0</Notes>
  <HiddenSlides>0</HiddenSlides>
  <MMClips>70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47</vt:i4>
      </vt:variant>
    </vt:vector>
  </HeadingPairs>
  <TitlesOfParts>
    <vt:vector size="51" baseType="lpstr">
      <vt:lpstr>Arial</vt:lpstr>
      <vt:lpstr>正文</vt:lpstr>
      <vt:lpstr>首页</vt:lpstr>
      <vt:lpstr>致谢</vt:lpstr>
      <vt:lpstr>第六次学习</vt:lpstr>
      <vt:lpstr>Start time of learning a word </vt:lpstr>
      <vt:lpstr>How about you know 生意？ Please write down the choice on your page and click the choice to jump to the corresponding page</vt:lpstr>
      <vt:lpstr>生意 shēngyì </vt:lpstr>
      <vt:lpstr>生意 shēngyì </vt:lpstr>
      <vt:lpstr>生意 shēngyì </vt:lpstr>
      <vt:lpstr>生意 shēngyì </vt:lpstr>
      <vt:lpstr>practice</vt:lpstr>
      <vt:lpstr>End time of learning a word </vt:lpstr>
      <vt:lpstr>Start time of learning a word </vt:lpstr>
      <vt:lpstr>How about you know 部分？ Please write down the choice on your page and click the choice to jump to the corresponding page</vt:lpstr>
      <vt:lpstr>部分 bùfen </vt:lpstr>
      <vt:lpstr>部分 bùfen </vt:lpstr>
      <vt:lpstr>部分 bùfen </vt:lpstr>
      <vt:lpstr>部分 bùfen </vt:lpstr>
      <vt:lpstr>practice</vt:lpstr>
      <vt:lpstr>End time of learning a word </vt:lpstr>
      <vt:lpstr>Start time of learning a word </vt:lpstr>
      <vt:lpstr>How about you know 景色？ Please write down the choice on your page and click the choice to jump to the corresponding page</vt:lpstr>
      <vt:lpstr>景色 jǐngsè </vt:lpstr>
      <vt:lpstr>景色 jǐngsè </vt:lpstr>
      <vt:lpstr>景色 jǐngsè </vt:lpstr>
      <vt:lpstr>practice</vt:lpstr>
      <vt:lpstr>End time of learning a word </vt:lpstr>
      <vt:lpstr>Start time of learning a word </vt:lpstr>
      <vt:lpstr>How about you know 堵车？ Please write down the choice on your page and click the choice to jump to the corresponding page</vt:lpstr>
      <vt:lpstr>堵车 dǔchē </vt:lpstr>
      <vt:lpstr>堵车 dǔchē </vt:lpstr>
      <vt:lpstr>堵车 dǔchē </vt:lpstr>
      <vt:lpstr>堵车 dǔchē </vt:lpstr>
      <vt:lpstr>practice</vt:lpstr>
      <vt:lpstr>End time of learning a word </vt:lpstr>
      <vt:lpstr>Start time of learning a word </vt:lpstr>
      <vt:lpstr>How about you know 语法？ Please write down the choice on your page and click the choice to jump to the corresponding page</vt:lpstr>
      <vt:lpstr>语法 yǔfǎ   </vt:lpstr>
      <vt:lpstr>语法 yǔfǎ   </vt:lpstr>
      <vt:lpstr>语法 yǔfǎ   </vt:lpstr>
      <vt:lpstr>语法 yǔfǎ   </vt:lpstr>
      <vt:lpstr>practice</vt:lpstr>
      <vt:lpstr>End time of learning a word </vt:lpstr>
      <vt:lpstr>Start time of learning a word </vt:lpstr>
      <vt:lpstr>How about you know 迷路？ Please write down the choice on your page and click the choice to jump to the corresponding page</vt:lpstr>
      <vt:lpstr>迷路 mí lù </vt:lpstr>
      <vt:lpstr>迷路 mí lù </vt:lpstr>
      <vt:lpstr>迷路 mí lù </vt:lpstr>
      <vt:lpstr>practice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康 正伟</cp:lastModifiedBy>
  <cp:revision>29</cp:revision>
  <cp:lastPrinted>1601-01-01T00:00:00Z</cp:lastPrinted>
  <dcterms:created xsi:type="dcterms:W3CDTF">1601-01-01T00:00:00Z</dcterms:created>
  <dcterms:modified xsi:type="dcterms:W3CDTF">2022-04-11T03:01:19Z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